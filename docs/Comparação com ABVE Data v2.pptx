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11"/>
    <ns0:sldId id="257" ns1:id="rId13"/>
    <ns0:sldId id="258" ns1:id="rId14"/>
    <ns0:sldId id="259" ns1:id="rId15"/>
    <ns0:sldId id="260" ns1:id="rId16"/>
    <ns0:sldId id="261" ns1:id="rId17"/>
    <ns0:sldId id="262" ns1:id="rId18"/>
    <ns0:sldId id="263" ns1:id="rId19"/>
    <ns0:sldId id="264" ns1:id="rId20"/>
    <ns0:sldId id="265" ns1:id="rId21"/>
  </ns0:sldIdLst>
  <ns0:sldSz cx="12192000" cy="6858000" type="screen4x3"/>
  <ns0:notesSz cx="6858000" cy="9144000"/>
  <ns0:embeddedFontLst>
    <ns0:embeddedFont>
      <ns0:font typeface="DM Sans"/>
      <ns0:bold ns1:id="rIdFont22"/>
      <ns0:regular ns1:id="rIdFont23"/>
    </ns0:embeddedFont>
    <ns0:embeddedFont>
      <ns0:font typeface="JetBrains Mono"/>
      <ns0:bold ns1:id="rIdFont24"/>
      <ns0:regular ns1:id="rIdFont2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Font22" Type="http://schemas.openxmlformats.org/officeDocument/2006/relationships/font" Target="fonts/c2acb75c-2c91-4031-8c02-f60c0dbd2d9b.fntdata"/><Relationship Id="rIdFont23" Type="http://schemas.openxmlformats.org/officeDocument/2006/relationships/font" Target="fonts/abf9da13-473b-4005-9b51-1d9ac922b98d.fntdata"/><Relationship Id="rIdFont24" Type="http://schemas.openxmlformats.org/officeDocument/2006/relationships/font" Target="fonts/1a514fd3-fcf9-4cd8-8e80-27fb3b752371.fntdata"/><Relationship Id="rIdFont25" Type="http://schemas.openxmlformats.org/officeDocument/2006/relationships/font" Target="fonts/c9c564c0-221f-405a-87a2-837a5d961eee.fntdata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dPt>
            <c:idx val="0"/>
            <c:spPr>
              <a:solidFill>
                <a:srgbClr val="475569"/>
              </a:solidFill>
              <a:ln>
                <a:noFill/>
              </a:ln>
            </c:spPr>
          </c:dPt>
          <c:dPt>
            <c:idx val="1"/>
            <c:spPr>
              <a:solidFill>
                <a:srgbClr val="0284C7"/>
              </a:solidFill>
              <a:ln>
                <a:noFill/>
              </a:ln>
            </c:spPr>
          </c:dPt>
          <c:dPt>
            <c:idx val="2"/>
            <c:spPr>
              <a:solidFill>
                <a:srgbClr val="94A3B8"/>
              </a:solidFill>
              <a:ln>
                <a:noFill/>
              </a:ln>
            </c:spPr>
          </c:dPt>
          <c:dPt>
            <c:idx val="3"/>
            <c:spPr>
              <a:solidFill>
                <a:srgbClr val="38BDF8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0F172A"/>
                        </a:solidFill>
                        <a:latin typeface="Arial"/>
                      </a:rPr>
                      <a:t>927.581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0F172A"/>
                        </a:solidFill>
                        <a:latin typeface="Arial"/>
                      </a:rPr>
                      <a:t>909.699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0F172A"/>
                        </a:solidFill>
                        <a:latin typeface="Arial"/>
                      </a:rPr>
                      <a:t>961.041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0F172A"/>
                        </a:solidFill>
                        <a:latin typeface="Arial"/>
                      </a:rPr>
                      <a:t>972.206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Vendas ABVE, sem micro-híbridos</c:v>
                </c:pt>
                <c:pt idx="1">
                  <c:v>db-demob, nas UFs válidas</c:v>
                </c:pt>
                <c:pt idx="2">
                  <c:v>Vendas ABVE, com micro-híbridos</c:v>
                </c:pt>
                <c:pt idx="3">
                  <c:v>db-demob, com os sem UF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927581</c:v>
                </c:pt>
                <c:pt idx="1">
                  <c:v>909699</c:v>
                </c:pt>
                <c:pt idx="2">
                  <c:v>961041</c:v>
                </c:pt>
                <c:pt idx="3">
                  <c:v>972206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33415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00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334155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dPt>
            <c:idx val="0"/>
            <c:spPr>
              <a:solidFill>
                <a:srgbClr val="475569"/>
              </a:solidFill>
              <a:ln>
                <a:noFill/>
              </a:ln>
            </c:spPr>
          </c:dPt>
          <c:dPt>
            <c:idx val="1"/>
            <c:spPr>
              <a:solidFill>
                <a:srgbClr val="0284C7"/>
              </a:solidFill>
              <a:ln>
                <a:noFill/>
              </a:ln>
            </c:spPr>
          </c:dPt>
          <c:dPt>
            <c:idx val="2"/>
            <c:spPr>
              <a:solidFill>
                <a:srgbClr val="38BDF8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0F172A"/>
                        </a:solidFill>
                        <a:latin typeface="Arial"/>
                      </a:rPr>
                      <a:t>338.237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0F172A"/>
                        </a:solidFill>
                        <a:latin typeface="Arial"/>
                      </a:rPr>
                      <a:t>335.551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0F172A"/>
                        </a:solidFill>
                        <a:latin typeface="Arial"/>
                      </a:rPr>
                      <a:t>362.523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Vendas ABVE</c:v>
                </c:pt>
                <c:pt idx="1">
                  <c:v>db-demob, nas UFs válidas</c:v>
                </c:pt>
                <c:pt idx="2">
                  <c:v>db-demob, com os sem UF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338237</c:v>
                </c:pt>
                <c:pt idx="1">
                  <c:v>335551</c:v>
                </c:pt>
                <c:pt idx="2">
                  <c:v>362523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33415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42278.06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334155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dPt>
            <c:idx val="0"/>
            <c:spPr>
              <a:solidFill>
                <a:srgbClr val="475569"/>
              </a:solidFill>
              <a:ln>
                <a:noFill/>
              </a:ln>
            </c:spPr>
          </c:dPt>
          <c:dPt>
            <c:idx val="1"/>
            <c:spPr>
              <a:solidFill>
                <a:srgbClr val="0284C7"/>
              </a:solidFill>
              <a:ln>
                <a:noFill/>
              </a:ln>
            </c:spPr>
          </c:dPt>
          <c:dPt>
            <c:idx val="2"/>
            <c:spPr>
              <a:solidFill>
                <a:srgbClr val="38BDF8"/>
              </a:solidFill>
              <a:ln>
                <a:noFill/>
              </a:ln>
            </c:spPr>
          </c:dPt>
          <c:dPt>
            <c:idx val="3"/>
            <c:spPr>
              <a:solidFill>
                <a:srgbClr val="F59E0B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0F172A"/>
                        </a:solidFill>
                        <a:latin typeface="Arial"/>
                      </a:rPr>
                      <a:t>357.656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0F172A"/>
                        </a:solidFill>
                        <a:latin typeface="Arial"/>
                      </a:rPr>
                      <a:t>345.528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0F172A"/>
                        </a:solidFill>
                        <a:latin typeface="Arial"/>
                      </a:rPr>
                      <a:t>370.954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0F172A"/>
                        </a:solidFill>
                        <a:latin typeface="Arial"/>
                      </a:rPr>
                      <a:t>79.245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Vendas ABVE</c:v>
                </c:pt>
                <c:pt idx="1">
                  <c:v>db-demob, nas UFs válidas</c:v>
                </c:pt>
                <c:pt idx="2">
                  <c:v>db-demob, com os sem UF</c:v>
                </c:pt>
                <c:pt idx="3">
                  <c:v>Rótulo HIBRIDO PLUG-IN, UFs válidas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357656</c:v>
                </c:pt>
                <c:pt idx="1">
                  <c:v>345528</c:v>
                </c:pt>
                <c:pt idx="2">
                  <c:v>370954</c:v>
                </c:pt>
                <c:pt idx="3">
                  <c:v>79245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33415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52563.8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334155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dPt>
            <c:idx val="0"/>
            <c:spPr>
              <a:solidFill>
                <a:srgbClr val="475569"/>
              </a:solidFill>
              <a:ln>
                <a:noFill/>
              </a:ln>
            </c:spPr>
          </c:dPt>
          <c:dPt>
            <c:idx val="1"/>
            <c:spPr>
              <a:solidFill>
                <a:srgbClr val="0284C7"/>
              </a:solidFill>
              <a:ln>
                <a:noFill/>
              </a:ln>
            </c:spPr>
          </c:dPt>
          <c:dPt>
            <c:idx val="2"/>
            <c:spPr>
              <a:solidFill>
                <a:srgbClr val="38BDF8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0F172A"/>
                        </a:solidFill>
                        <a:latin typeface="Arial"/>
                      </a:rPr>
                      <a:t>231.670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0F172A"/>
                        </a:solidFill>
                        <a:latin typeface="Arial"/>
                      </a:rPr>
                      <a:t>228.616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0F172A"/>
                        </a:solidFill>
                        <a:latin typeface="Arial"/>
                      </a:rPr>
                      <a:t>238.725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Vendas ABVE (HEV e HEV Flex)</c:v>
                </c:pt>
                <c:pt idx="1">
                  <c:v>db-demob, nas UFs válidas</c:v>
                </c:pt>
                <c:pt idx="2">
                  <c:v>db-demob, com os sem UF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231670</c:v>
                </c:pt>
                <c:pt idx="1">
                  <c:v>228616</c:v>
                </c:pt>
                <c:pt idx="2">
                  <c:v>238725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33415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91244.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334155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Abertura. Esta apresentação confronta o db-demob, a base de eletromobilidade que mede a frota registrada no RENAVAM, com o ABVE Data, que mede as vendas de eletrificados leves. As duas fontes são independentes, e é isso que dá valor à comparação: onde concordam, a base ganha respaldo; onde discordam, aparece o erro de uma delas.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que o db-demob captura, do total ao recorte que se compara com a ABVE. Em setembro de 2026, a base por modelo tem 1,23 milhão de eletrificados e híbridos leves. Cerca de 118 mil não têm UF, município nem ano de fabricação: pelo perfil, são carros já cadastrados pelo fabricante ou importador e ainda não emplacados. Tirados eles, a tabela mostra o crescimento de dezembro de 2020 a setembro de 2026 por tipo de veículo e por tecnologia. A linha dos leves é a que vai para a comparação.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comparação dos leves. Entre dezembro de 2020 e setembro de 2026, os eletrificados leves do db-demob nas UFs válidas cresceram 909.699. A ABVE vendeu 927.581 de janeiro de 2021 a setembro de 2026, sem os micro-híbridos. A frota cresceu 1,9% menos que as vendas. O total do Brasil, 972 mil, passava das vendas porque inclui 62.507 leves sem UF, que pelo perfil são estoque ainda não emplacado. E a diferença não vem de baixa: os eletrificados fabricados até 2018 não diminuíram na frota em quase seis anos.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elétricos a bateria. A frota de leves nas UFs válidas cresceu 335.551 e a ABVE vendeu 338.237 no período: diferença de 0,8%, a menor das três tecnologias. Fora da comparação ficam as motos e scooters elétricas, que a ABVE não conta. Os sem UF pesam mais aqui do que nas outras tecnologias, porque são lançamentos recentes, como o Dolphin Mini e o Geely EX2.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híbridos plug-in. A frota de leves nas UFs válidas cresceu 345.528 e a ABVE vendeu 357.656: 12 mil a menos, a maior diferença das três tecnologias, e a que concentra a diferença dos leves. O slide 7 mostra de onde ela vem: plug-ins na ABVE que são híbridos leves de 48 volts, e plug-ins que a regra do db-demob não reconhece. O campo combustível do RENAVAM não ajuda: só 79 mil têm o rótulo plug-in.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híbridos convencionais, inclusive o híbrido flex. A frota de leves nas UFs válidas cresceu 228.616 e a ABVE vendeu 231.670: diferença de 1,3%. O micro-híbrido fica fora dos dois lados, e a fronteira bate: a ABVE contou 33.460 até 2024, e o db-demob tem 31.868 híbridos leves fabricados até 2024. Há duas divergências na fronteira: o Tiggo 7 Pro Hybrid, que a ABVE conta como híbrido flex e o db-demob como híbrido leve, e os Audi com HIBRIDO no nome, no sentido contrário.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comparação por fabricante, com a base de vendas do BI Frotas da ABVE, que vai de janeiro de 2022 a setembro de 2026. Para alinhar o período, o db-demob foi medido de dezembro de 2021 a setembro de 2026. Os grandes fabricantes batem quase exatamente: BYD, GWM, Toyota, Omoda Jaecoo e Geely a menos de 0,2%. A diferença se concentra em poucos modelos. No plug-in, a ABVE conta como plug-in cerca de 5 mil veículos que, pelo modelo, são híbridos leves de 48 volts, e o db-demob deixa de reconhecer 3 mil plug-ins de verdade. No híbrido, as duas fontes divergem na fronteira com o híbrido leve: o Tiggo 7 Pro Hybrid e os Audi com HIBRIDO no nome.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 que a participação na frota é tão menor que nas vendas. Em setembro de 2026, um em cada cinco veículos leves vendidos foi eletrificado. Na frota de leves, é pouco mais de um em cada cem. A frota é o acumulado de décadas de vendas, e muda devagar: mesmo a 20% das vendas, leva anos para a participação na frota subir de forma visível.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distribuição por UF é parecida nas três medidas: as mesmas cinco UFs na frente, na mesma ordem de grandeza. O Distrito Federal tem 1,4% da população e quase 8% das vendas de eletrificados do mês, o que explica a liderança em eletrificados por habitante.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dos números. Os da ABVE vêm do painel ABVE Data e dos comunicados oficiais; os do db-demob, da pasta resultados/ do repositório.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2.xml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3.xml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4.xml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abve.org.br" TargetMode="External"/><Relationship Id="rId4" Type="http://schemas.openxmlformats.org/officeDocument/2006/relationships/hyperlink" Target="https://abve.org.br/eletrificados-leves-ultrapassam-a-marca-de-1-milhao-de-unidades-vendidas-no-brasil/" TargetMode="External"/><Relationship Id="rId5" Type="http://schemas.openxmlformats.org/officeDocument/2006/relationships/hyperlink" Target="https://abve.org.br/eletrificados-crescem-dez-vezes-mais-do-que-conjunto-do-mercado-em-2025-com-224-mil-veiculos-vendidos/" TargetMode="External"/><Relationship Id="rId6" Type="http://schemas.openxmlformats.org/officeDocument/2006/relationships/hyperlink" Target="https://eixos.com.br/mercado-brasileiro-de-eletricos-cresce-77-no-brasil-veja-os-mais-vendidos/" TargetMode="External"/><Relationship Id="rId7" Type="http://schemas.openxmlformats.org/officeDocument/2006/relationships/hyperlink" Target="https://abve.org.br/bi-frotas/" TargetMode="External"/><Relationship Id="rId8" Type="http://schemas.openxmlformats.org/officeDocument/2006/relationships/hyperlink" Target="https://www.gov.br/transportes/pt-br/assuntos/transito/conteudo-Senatran/frota-de-veiculos-2026" TargetMode="External"/><Relationship Id="rId9" Type="http://schemas.openxmlformats.org/officeDocument/2006/relationships/hyperlink" Target="https://github.com/BorgesMath/Eletromobilidad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20574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Arial"/>
              </a:rPr>
              <a:t>DB-DEMOB • COMPARAÇÃO EXTERNA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2441448"/>
            <a:ext cx="9601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8FAFC"/>
                </a:solidFill>
                <a:latin typeface="Arial"/>
              </a:rPr>
              <a:t>O db-demob e o ABVE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3310128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94A3B8"/>
                </a:solidFill>
                <a:latin typeface="Arial"/>
              </a:rPr>
              <a:t>A frota registrada no RENAVAM comparada às vendas de eletrificados leves da ABVE, de 2021 a setembro de 2026.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4343400"/>
            <a:ext cx="68580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DB-DEMOB • O QUE A BASE CAPTURA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1,23 milhão de eletrificados e híbridos leves na frota de set/2026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417320"/>
            <a:ext cx="3291840" cy="13716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09904" y="1536192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0284C7"/>
                </a:solidFill>
                <a:latin typeface="Arial"/>
              </a:rPr>
              <a:t>1.226.850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784" y="20574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0">
                <a:solidFill>
                  <a:srgbClr val="334155"/>
                </a:solidFill>
                <a:latin typeface="Arial"/>
              </a:rPr>
              <a:t>na frota registrada em set/2026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784" y="237744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Arial"/>
              </a:rPr>
              <a:t>1.092.893 eletrificados + 133.957 MHEV</a:t>
            </a:r>
          </a:p>
        </p:txBody>
      </p:sp>
      <p:pic>
        <p:nvPicPr>
          <p:cNvPr id="8" name="Ícone ArrowRight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192" y="1984248"/>
            <a:ext cx="237744" cy="23774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450384" y="1417320"/>
            <a:ext cx="3291840" cy="13716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450384" y="1536192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  <a:latin typeface="Arial"/>
              </a:rPr>
              <a:t>−118.423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3264" y="20574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0">
                <a:solidFill>
                  <a:srgbClr val="334155"/>
                </a:solidFill>
                <a:latin typeface="Arial"/>
              </a:rPr>
              <a:t>sem UF, município e ano de fabricação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3264" y="237744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Arial"/>
              </a:rPr>
              <a:t>provável estoque ainda não emplacado</a:t>
            </a:r>
          </a:p>
        </p:txBody>
      </p:sp>
      <p:pic>
        <p:nvPicPr>
          <p:cNvPr id="13" name="Ícone ArrowRight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7672" y="1984248"/>
            <a:ext cx="237744" cy="23774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290864" y="1417320"/>
            <a:ext cx="3291840" cy="13716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90864" y="1536192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0F172A"/>
                </a:solidFill>
                <a:latin typeface="Arial"/>
              </a:rPr>
              <a:t>1.108.427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3744" y="20574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0">
                <a:solidFill>
                  <a:srgbClr val="334155"/>
                </a:solidFill>
                <a:latin typeface="Arial"/>
              </a:rPr>
              <a:t>nas UFs válidas, em set/2026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3744" y="237744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Arial"/>
              </a:rPr>
              <a:t>990.820 eletrificados + 117.607 MHEV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" y="29992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Arial"/>
              </a:rPr>
              <a:t>Crescimento de dez/2020 a set/2026*, nas UFs válidas</a:t>
            </a:r>
            <a:r>
              <a:rPr sz="1300" b="0" i="0">
                <a:solidFill>
                  <a:srgbClr val="475569"/>
                </a:solidFill>
                <a:latin typeface="Arial"/>
              </a:rPr>
              <a:t> — por tipo nas linhas, por tecnologia nas colunas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09904" y="3337560"/>
          <a:ext cx="10972800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1600200"/>
                <a:gridCol w="1600200"/>
                <a:gridCol w="1600200"/>
                <a:gridCol w="1737360"/>
                <a:gridCol w="22402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Tipo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Elétrico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Plug-in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Híbrido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Eletrificados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Híbrido leve (MHEV)†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Arial"/>
                        </a:rPr>
                        <a:t>Leve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0F172A"/>
                          </a:solidFill>
                          <a:latin typeface="Arial"/>
                        </a:rPr>
                        <a:t>335.551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0F172A"/>
                          </a:solidFill>
                          <a:latin typeface="Arial"/>
                        </a:rPr>
                        <a:t>345.528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0F172A"/>
                          </a:solidFill>
                          <a:latin typeface="Arial"/>
                        </a:rPr>
                        <a:t>228.616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0F172A"/>
                          </a:solidFill>
                          <a:latin typeface="Arial"/>
                        </a:rPr>
                        <a:t>909.699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0F172A"/>
                          </a:solidFill>
                          <a:latin typeface="Arial"/>
                        </a:rPr>
                        <a:t>105.822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E0F2F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Arial"/>
                        </a:rPr>
                        <a:t>Moto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35.726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35.726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11.785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Arial"/>
                        </a:rPr>
                        <a:t>Caminhão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1.697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1.697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Arial"/>
                        </a:rPr>
                        <a:t>Ônibus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710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710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Arial"/>
                        </a:rPr>
                        <a:t>Outros e sem tipo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334155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0F172A"/>
                          </a:solidFill>
                          <a:latin typeface="Arial"/>
                        </a:rPr>
                        <a:t>373.689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0F172A"/>
                          </a:solidFill>
                          <a:latin typeface="Arial"/>
                        </a:rPr>
                        <a:t>345.528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0F172A"/>
                          </a:solidFill>
                          <a:latin typeface="Arial"/>
                        </a:rPr>
                        <a:t>228.616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0F172A"/>
                          </a:solidFill>
                          <a:latin typeface="Arial"/>
                        </a:rPr>
                        <a:t>947.837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0F172A"/>
                          </a:solidFill>
                          <a:latin typeface="Arial"/>
                        </a:rPr>
                        <a:t>117.607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09904" y="59436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475569"/>
                </a:solidFill>
                <a:latin typeface="Arial"/>
              </a:rPr>
              <a:t>* Frota de set/2026 menos a de dez/2020, ou seja, o que entrou na frota a partir de jan/2021. Eletrificados = elétrico + plug-in + híbrido, mais 4 leves a célula de combustível.</a:t>
            </a:r>
          </a:p>
          <a:p>
            <a:pPr algn="l"/>
            <a:r>
              <a:rPr sz="1050" b="0" i="0">
                <a:solidFill>
                  <a:srgbClr val="475569"/>
                </a:solidFill>
                <a:latin typeface="Arial"/>
              </a:rPr>
              <a:t>† Fica fora da frota eletrificada, como nas vendas da ABVE desde 2025.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COMPARAÇÃO 1 • LEVES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Leves: a frota cresceu 1,9% menos que as vendas da ABVE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463040"/>
            <a:ext cx="717804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29944" y="1664208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475569"/>
                </a:solidFill>
                <a:latin typeface="Arial"/>
              </a:rPr>
              <a:t>Eletrificados leves, de jan/2021 a set/2026, em veículos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92784" y="1965960"/>
          <a:ext cx="6812280" cy="3566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001000" y="1463040"/>
            <a:ext cx="3584448" cy="41605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75320" y="169164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Arial"/>
              </a:rPr>
              <a:t>DIFERENÇA COMPARÁVEL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1993392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−17.882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56032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Arial"/>
              </a:rPr>
              <a:t>−1,9% das vendas sem micro-híbridos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3063240"/>
            <a:ext cx="306324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Os sem UF: </a:t>
            </a:r>
            <a:r>
              <a:rPr sz="1200" b="0" i="0">
                <a:solidFill>
                  <a:srgbClr val="94A3B8"/>
                </a:solidFill>
                <a:latin typeface="Arial"/>
              </a:rPr>
              <a:t>62.507 leves sem UF, município e ano. A ABVE só os conta quando são emplacados.</a:t>
            </a:r>
          </a:p>
          <a:p>
            <a:pPr algn="l">
              <a:spcAft>
                <a:spcPts val="10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Baixa quase não há: </a:t>
            </a:r>
            <a:r>
              <a:rPr sz="1200" b="0" i="0">
                <a:solidFill>
                  <a:srgbClr val="94A3B8"/>
                </a:solidFill>
                <a:latin typeface="Arial"/>
              </a:rPr>
              <a:t>os fabricados até 2018 eram 12.298 em dez/2020 e 12.317 em set/2026.</a:t>
            </a:r>
          </a:p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Logo, </a:t>
            </a:r>
            <a:r>
              <a:rPr sz="1200" b="0" i="0">
                <a:solidFill>
                  <a:srgbClr val="94A3B8"/>
                </a:solidFill>
                <a:latin typeface="Arial"/>
              </a:rPr>
              <a:t>frota e vendas deveriam empatar. O −1,9% é diferença de medição, e está concentrado no plug-in.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rial"/>
              </a:rPr>
              <a:t>Crescimento: frota de set/2026 menos a de dez/2020, que já contém o que foi vendido até 2020. Por isso as vendas começam em jan/2021.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COMPARAÇÃO 2 • ELÉTRICO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Elétricos: frota e vendas empatam, a 0,8% de diferença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463040"/>
            <a:ext cx="7178040" cy="32461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29944" y="164592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475569"/>
                </a:solidFill>
                <a:latin typeface="Arial"/>
              </a:rPr>
              <a:t>Leves, de jan/2021 a set/2026, em veículos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92784" y="1920240"/>
          <a:ext cx="681228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001000" y="1463040"/>
            <a:ext cx="3584448" cy="32461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75320" y="1664208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Arial"/>
              </a:rPr>
              <a:t>DIFERENÇA COMPARÁVEL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1938528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−2.686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450592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Arial"/>
              </a:rPr>
              <a:t>−0,8% das vendas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88036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Arial"/>
              </a:rPr>
              <a:t>QUEM MAIS ENTROU NA FROTA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182112"/>
            <a:ext cx="3063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BYD</a:t>
            </a:r>
            <a:r>
              <a:rPr sz="1250" b="1" i="0">
                <a:solidFill>
                  <a:srgbClr val="94A3B8"/>
                </a:solidFill>
                <a:latin typeface="Arial"/>
              </a:rPr>
              <a:t>   64%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Geely</a:t>
            </a:r>
            <a:r>
              <a:rPr sz="1250" b="1" i="0">
                <a:solidFill>
                  <a:srgbClr val="94A3B8"/>
                </a:solidFill>
                <a:latin typeface="Arial"/>
              </a:rPr>
              <a:t>   10%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Volvo</a:t>
            </a:r>
            <a:r>
              <a:rPr sz="1250" b="1" i="0">
                <a:solidFill>
                  <a:srgbClr val="94A3B8"/>
                </a:solidFill>
                <a:latin typeface="Arial"/>
              </a:rPr>
              <a:t>   5%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GWM</a:t>
            </a:r>
            <a:r>
              <a:rPr sz="1250" b="1" i="0">
                <a:solidFill>
                  <a:srgbClr val="94A3B8"/>
                </a:solidFill>
                <a:latin typeface="Arial"/>
              </a:rPr>
              <a:t>   4%</a:t>
            </a:r>
          </a:p>
          <a:p>
            <a:pPr algn="l"/>
            <a:r>
              <a:rPr sz="1250" b="0" i="0">
                <a:solidFill>
                  <a:srgbClr val="FFFFFF"/>
                </a:solidFill>
                <a:latin typeface="Arial"/>
              </a:rPr>
              <a:t>Chevrolet</a:t>
            </a:r>
            <a:r>
              <a:rPr sz="1250" b="1" i="0">
                <a:solidFill>
                  <a:srgbClr val="94A3B8"/>
                </a:solidFill>
                <a:latin typeface="Arial"/>
              </a:rPr>
              <a:t>   3%</a:t>
            </a:r>
          </a:p>
        </p:txBody>
      </p:sp>
      <p:pic>
        <p:nvPicPr>
          <p:cNvPr id="13" name="Ícone CircleCheck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04" y="4937759"/>
            <a:ext cx="256032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1384" y="4919472"/>
            <a:ext cx="10561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34155"/>
                </a:solidFill>
                <a:latin typeface="Arial"/>
              </a:rPr>
              <a:t>A tecnologia em que as duas fontes mais concordam: </a:t>
            </a:r>
            <a:r>
              <a:rPr sz="1250" b="0" i="0">
                <a:solidFill>
                  <a:srgbClr val="334155"/>
                </a:solidFill>
                <a:latin typeface="Arial"/>
              </a:rPr>
              <a:t>a diferença cabe no que se espera de duas fontes independentes.</a:t>
            </a:r>
          </a:p>
        </p:txBody>
      </p:sp>
      <p:pic>
        <p:nvPicPr>
          <p:cNvPr id="15" name="Ícone Motorcycle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04" y="5504688"/>
            <a:ext cx="25603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21384" y="5486400"/>
            <a:ext cx="10561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34155"/>
                </a:solidFill>
                <a:latin typeface="Arial"/>
              </a:rPr>
              <a:t>Fora da comparação: </a:t>
            </a:r>
            <a:r>
              <a:rPr sz="1250" b="0" i="0">
                <a:solidFill>
                  <a:srgbClr val="334155"/>
                </a:solidFill>
                <a:latin typeface="Arial"/>
              </a:rPr>
              <a:t>35.726 motos e scooters elétricas entraram na frota das UFs válidas (70.904 com os sem UF). A ABVE não conta duas rodas.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" y="61447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Arial"/>
              </a:rPr>
              <a:t>Os sem UF são 26.972 elétricos leves, 7% do total do Brasil, quase todos lançamentos recentes (Dolphin Mini, Geely EX2).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COMPARAÇÃO 3 • PLUG-IN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Plug-in: a frota cresceu 3,4% menos que as vendas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463040"/>
            <a:ext cx="7178040" cy="32461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29944" y="164592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475569"/>
                </a:solidFill>
                <a:latin typeface="Arial"/>
              </a:rPr>
              <a:t>Leves, de jan/2021 a set/2026, em veículos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92784" y="1920240"/>
          <a:ext cx="681228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001000" y="1463040"/>
            <a:ext cx="3584448" cy="32461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75320" y="1664208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Arial"/>
              </a:rPr>
              <a:t>DIFERENÇA COMPARÁVEL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1938528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−12.128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450592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Arial"/>
              </a:rPr>
              <a:t>−3,4% das vendas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88036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Arial"/>
              </a:rPr>
              <a:t>QUEM MAIS ENTROU NA FROTA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182112"/>
            <a:ext cx="3063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BYD</a:t>
            </a:r>
            <a:r>
              <a:rPr sz="1250" b="1" i="0">
                <a:solidFill>
                  <a:srgbClr val="94A3B8"/>
                </a:solidFill>
                <a:latin typeface="Arial"/>
              </a:rPr>
              <a:t>   47%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GWM</a:t>
            </a:r>
            <a:r>
              <a:rPr sz="1250" b="1" i="0">
                <a:solidFill>
                  <a:srgbClr val="94A3B8"/>
                </a:solidFill>
                <a:latin typeface="Arial"/>
              </a:rPr>
              <a:t>   21%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Volvo</a:t>
            </a:r>
            <a:r>
              <a:rPr sz="1250" b="1" i="0">
                <a:solidFill>
                  <a:srgbClr val="94A3B8"/>
                </a:solidFill>
                <a:latin typeface="Arial"/>
              </a:rPr>
              <a:t>   7%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Jaecoo</a:t>
            </a:r>
            <a:r>
              <a:rPr sz="1250" b="1" i="0">
                <a:solidFill>
                  <a:srgbClr val="94A3B8"/>
                </a:solidFill>
                <a:latin typeface="Arial"/>
              </a:rPr>
              <a:t>   6%</a:t>
            </a:r>
          </a:p>
          <a:p>
            <a:pPr algn="l"/>
            <a:r>
              <a:rPr sz="1250" b="0" i="0">
                <a:solidFill>
                  <a:srgbClr val="FFFFFF"/>
                </a:solidFill>
                <a:latin typeface="Arial"/>
              </a:rPr>
              <a:t>Chery</a:t>
            </a:r>
            <a:r>
              <a:rPr sz="1250" b="1" i="0">
                <a:solidFill>
                  <a:srgbClr val="94A3B8"/>
                </a:solidFill>
                <a:latin typeface="Arial"/>
              </a:rPr>
              <a:t>   4%</a:t>
            </a:r>
          </a:p>
        </p:txBody>
      </p:sp>
      <p:pic>
        <p:nvPicPr>
          <p:cNvPr id="13" name="Ícone TriangleExclamation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04" y="4937759"/>
            <a:ext cx="256032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1384" y="4919472"/>
            <a:ext cx="10561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34155"/>
                </a:solidFill>
                <a:latin typeface="Arial"/>
              </a:rPr>
              <a:t>A maior das três diferenças, explicada modelo a modelo no slide 7: </a:t>
            </a:r>
            <a:r>
              <a:rPr sz="1250" b="0" i="0">
                <a:solidFill>
                  <a:srgbClr val="334155"/>
                </a:solidFill>
                <a:latin typeface="Arial"/>
              </a:rPr>
              <a:t>a ABVE conta como plug-in híbridos leves de 48 V, e a regra do db-demob perde alguns plug-ins de verdade.</a:t>
            </a:r>
          </a:p>
        </p:txBody>
      </p:sp>
      <p:pic>
        <p:nvPicPr>
          <p:cNvPr id="15" name="Ícone Plug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04" y="5504688"/>
            <a:ext cx="25603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21384" y="5486400"/>
            <a:ext cx="10561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34155"/>
                </a:solidFill>
                <a:latin typeface="Arial"/>
              </a:rPr>
              <a:t>O rótulo do RENAVAM não serve para plug-in: </a:t>
            </a:r>
            <a:r>
              <a:rPr sz="1250" b="0" i="0">
                <a:solidFill>
                  <a:srgbClr val="334155"/>
                </a:solidFill>
                <a:latin typeface="Arial"/>
              </a:rPr>
              <a:t>só 79.245 têm o rótulo, 22% dos vendidos. Os outros entram como híbrido.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" y="61447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Arial"/>
              </a:rPr>
              <a:t>Rótulo: frota com HIBRIDO PLUG-IN no campo combustível em set/2026. O código só existe desde abr/2022.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COMPARAÇÃO 4 • HÍBRIDO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Híbridos: a frota cresceu 1,3% menos que as vendas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463040"/>
            <a:ext cx="7178040" cy="32461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29944" y="164592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475569"/>
                </a:solidFill>
                <a:latin typeface="Arial"/>
              </a:rPr>
              <a:t>Leves, de jan/2021 a set/2026, em veículos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92784" y="1920240"/>
          <a:ext cx="681228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001000" y="1463040"/>
            <a:ext cx="3584448" cy="32461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75320" y="1664208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Arial"/>
              </a:rPr>
              <a:t>DIFERENÇA COMPARÁVEL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1938528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−3.054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450592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Arial"/>
              </a:rPr>
              <a:t>−1,3% das vendas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88036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Arial"/>
              </a:rPr>
              <a:t>QUEM MAIS ENTROU NA FROTA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182112"/>
            <a:ext cx="3063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Toyota</a:t>
            </a:r>
            <a:r>
              <a:rPr sz="1250" b="1" i="0">
                <a:solidFill>
                  <a:srgbClr val="94A3B8"/>
                </a:solidFill>
                <a:latin typeface="Arial"/>
              </a:rPr>
              <a:t>   62%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GWM</a:t>
            </a:r>
            <a:r>
              <a:rPr sz="1250" b="1" i="0">
                <a:solidFill>
                  <a:srgbClr val="94A3B8"/>
                </a:solidFill>
                <a:latin typeface="Arial"/>
              </a:rPr>
              <a:t>   18%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Omoda</a:t>
            </a:r>
            <a:r>
              <a:rPr sz="1250" b="1" i="0">
                <a:solidFill>
                  <a:srgbClr val="94A3B8"/>
                </a:solidFill>
                <a:latin typeface="Arial"/>
              </a:rPr>
              <a:t>   9%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Honda</a:t>
            </a:r>
            <a:r>
              <a:rPr sz="1250" b="1" i="0">
                <a:solidFill>
                  <a:srgbClr val="94A3B8"/>
                </a:solidFill>
                <a:latin typeface="Arial"/>
              </a:rPr>
              <a:t>   3%</a:t>
            </a:r>
          </a:p>
          <a:p>
            <a:pPr algn="l"/>
            <a:r>
              <a:rPr sz="1250" b="0" i="0">
                <a:solidFill>
                  <a:srgbClr val="FFFFFF"/>
                </a:solidFill>
                <a:latin typeface="Arial"/>
              </a:rPr>
              <a:t>GAC</a:t>
            </a:r>
            <a:r>
              <a:rPr sz="1250" b="1" i="0">
                <a:solidFill>
                  <a:srgbClr val="94A3B8"/>
                </a:solidFill>
                <a:latin typeface="Arial"/>
              </a:rPr>
              <a:t>   2%</a:t>
            </a:r>
          </a:p>
        </p:txBody>
      </p:sp>
      <p:pic>
        <p:nvPicPr>
          <p:cNvPr id="13" name="Ícone ScaleBalanced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04" y="4937759"/>
            <a:ext cx="256032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1384" y="4919472"/>
            <a:ext cx="10561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34155"/>
                </a:solidFill>
                <a:latin typeface="Arial"/>
              </a:rPr>
              <a:t>O micro-híbrido fica fora dos dois lados: </a:t>
            </a:r>
            <a:r>
              <a:rPr sz="1250" b="0" i="0">
                <a:solidFill>
                  <a:srgbClr val="334155"/>
                </a:solidFill>
                <a:latin typeface="Arial"/>
              </a:rPr>
              <a:t>a ABVE contou 33.460 até 2024; o db-demob tem 31.868 híbridos leves fabricados até 2024.</a:t>
            </a:r>
          </a:p>
        </p:txBody>
      </p:sp>
      <p:pic>
        <p:nvPicPr>
          <p:cNvPr id="15" name="Ícone TriangleExclamation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04" y="5504688"/>
            <a:ext cx="25603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21384" y="5486400"/>
            <a:ext cx="10561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34155"/>
                </a:solidFill>
                <a:latin typeface="Arial"/>
              </a:rPr>
              <a:t>Duas divergências na fronteira: </a:t>
            </a:r>
            <a:r>
              <a:rPr sz="1250" b="0" i="0">
                <a:solidFill>
                  <a:srgbClr val="334155"/>
                </a:solidFill>
                <a:latin typeface="Arial"/>
              </a:rPr>
              <a:t>o Tiggo 7 Pro Hybrid é HEV Flex na ABVE e híbrido leve no db-demob (6.253 desde 2022); os 3.722 Audi "HIBRIDO", o contrário.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" y="61447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Arial"/>
              </a:rPr>
              <a:t>O rótulo híbrido do RENAVAM cresceu 669.100 nas UFs válidas, quase três vezes as vendas: junta híbrido, micro-híbrido e plug-in sem rótulo.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COMPARAÇÃO 5 • FABRICANTE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Por fabricante, as fontes batem; a diferença está em poucos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37160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Arial"/>
              </a:rPr>
              <a:t>Eletrificados leves, jan/2022 a set/2026</a:t>
            </a:r>
            <a:r>
              <a:rPr sz="1150" b="0" i="0">
                <a:solidFill>
                  <a:srgbClr val="475569"/>
                </a:solidFill>
                <a:latin typeface="Arial"/>
              </a:rPr>
              <a:t> · em amarelo, diferença acima de 2%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904" y="1691640"/>
          <a:ext cx="6172200" cy="41696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1188720"/>
                <a:gridCol w="1188720"/>
                <a:gridCol w="173736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Fabricante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ABVE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db-demob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Diferença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Arial"/>
                        </a:rPr>
                        <a:t>BYD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377.206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376.810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−396 (−0,1%)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Arial"/>
                        </a:rPr>
                        <a:t>GWM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129.067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129.113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+46 (0,0%)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Arial"/>
                        </a:rPr>
                        <a:t>Toyota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121.254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121.285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+31 (0,0%)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Arial"/>
                        </a:rPr>
                        <a:t>Omoda Jaecoo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42.315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42.290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−25 (−0,1%)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Arial"/>
                        </a:rPr>
                        <a:t>Geely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41.189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41.161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−28 (−0,1%)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Arial"/>
                        </a:rPr>
                        <a:t>Volvo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37.245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36.279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−966 (−2,6%)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Arial"/>
                        </a:rPr>
                        <a:t>Caoa Chery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20.408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14.144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−6.264 (−30,7%)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Arial"/>
                        </a:rPr>
                        <a:t>BMW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16.324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14.354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−1.970 (−12,1%)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Arial"/>
                        </a:rPr>
                        <a:t>Mercedes-Benz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3.618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727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−2.891 (−79,9%)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Arial"/>
                        </a:rPr>
                        <a:t>Mitsubishi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1.925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−1.923 (−99,9%)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Arial"/>
                        </a:rPr>
                        <a:t>Land Rover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4.070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2.385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−1.685 (−41,4%)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Arial"/>
                        </a:rPr>
                        <a:t>Audi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4.741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8.194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+3.453 (72,8%)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Arial"/>
                        </a:rPr>
                        <a:t>Demais (76 fabricantes)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93.211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89.930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334155"/>
                          </a:solidFill>
                          <a:latin typeface="Arial"/>
                        </a:rPr>
                        <a:t>−3.281 (−3,5%)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0F172A"/>
                          </a:solidFill>
                          <a:latin typeface="Arial"/>
                        </a:rPr>
                        <a:t>892.573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0F172A"/>
                          </a:solidFill>
                          <a:latin typeface="Arial"/>
                        </a:rPr>
                        <a:t>876.674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0F172A"/>
                          </a:solidFill>
                          <a:latin typeface="Arial"/>
                        </a:rPr>
                        <a:t>−15.899 (−1,8%)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086600" y="1371600"/>
            <a:ext cx="4498848" cy="4489704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60920" y="1572768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Arial"/>
              </a:rPr>
              <a:t>ONDE ESTÁ A DIFERENÇA DE PLUG-IN (−10.737)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1920240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5.350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956816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Arial"/>
              </a:rPr>
              <a:t>plug-ins na ABVE que, pelo modelo, são híbridos leves de 48 V: BMW X6 40i e M Competition, Mercedes GLE 450d, AMG GLE 53 e 63, GLS 450 e Land Rover diesel.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108960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3.235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145536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Arial"/>
              </a:rPr>
              <a:t>plug-ins de verdade que a regra do db-demob não reconhece: Mitsubishi Outlander "E", Mercedes "EP", Porsche e Volvo com nome abreviado.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4315968"/>
            <a:ext cx="3977639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60920" y="4434840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Arial"/>
              </a:rPr>
              <a:t>NO HÍBRIDO, A FRONTEIRA COM O HÍBRIDO LEVE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727448"/>
            <a:ext cx="39776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Tiggo 7 Pro Hybrid: </a:t>
            </a:r>
            <a:r>
              <a:rPr sz="1150" b="0" i="0">
                <a:solidFill>
                  <a:srgbClr val="94A3B8"/>
                </a:solidFill>
                <a:latin typeface="Arial"/>
              </a:rPr>
              <a:t>HEV Flex na ABVE, híbrido leve no db-demob (6.253).</a:t>
            </a:r>
          </a:p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Audi "HIBRIDO": </a:t>
            </a:r>
            <a:r>
              <a:rPr sz="1150" b="0" i="0">
                <a:solidFill>
                  <a:srgbClr val="94A3B8"/>
                </a:solidFill>
                <a:latin typeface="Arial"/>
              </a:rPr>
              <a:t>o contrário, híbrido no db-demob (3.722).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Arial"/>
              </a:rPr>
              <a:t>A base por fabricante do BI da ABVE começa em jan/2022; o db-demob foi medido de dez/2021 a set/2026, leves nas UFs válidas. Fabricante como no BI: Omoda e Jaecoo juntas; Lexus, Denza e Mini à parte. 18 dos 30 fabricantes com mais de mil vendas batem a ±2%.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COMPARAÇÃO 6 • PARTICIPAÇÃO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Na venda, um em cada cinco; na frota, pouco mais de um em cada cem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691640"/>
            <a:ext cx="253746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09904" y="1965960"/>
            <a:ext cx="25374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 i="0">
                <a:solidFill>
                  <a:srgbClr val="F59E0B"/>
                </a:solidFill>
                <a:latin typeface="Arial"/>
              </a:rPr>
              <a:t>19,8%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504" y="2788920"/>
            <a:ext cx="20802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Arial"/>
              </a:rPr>
              <a:t>dos leves vendidos em set/2026 eram eletrificados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504" y="3520440"/>
            <a:ext cx="20802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0284C7"/>
                </a:solidFill>
                <a:latin typeface="Arial"/>
              </a:rPr>
              <a:t>ABVE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1684" y="1691640"/>
            <a:ext cx="253746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421684" y="1965960"/>
            <a:ext cx="25374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 i="0">
                <a:solidFill>
                  <a:srgbClr val="475569"/>
                </a:solidFill>
                <a:latin typeface="Arial"/>
              </a:rPr>
              <a:t>6,43%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0284" y="2788920"/>
            <a:ext cx="20802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Arial"/>
              </a:rPr>
              <a:t>dos leves vendidos de jan/2020 a set/2026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0284" y="3520440"/>
            <a:ext cx="20802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0284C7"/>
                </a:solidFill>
                <a:latin typeface="Arial"/>
              </a:rPr>
              <a:t>ABVE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464" y="1691640"/>
            <a:ext cx="253746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33464" y="1965960"/>
            <a:ext cx="25374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 i="0">
                <a:solidFill>
                  <a:srgbClr val="0284C7"/>
                </a:solidFill>
                <a:latin typeface="Arial"/>
              </a:rPr>
              <a:t>1,21%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2064" y="2788920"/>
            <a:ext cx="20802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Arial"/>
              </a:rPr>
              <a:t>da frota de leves em set/2026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2064" y="3520440"/>
            <a:ext cx="20802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0284C7"/>
                </a:solidFill>
                <a:latin typeface="Arial"/>
              </a:rPr>
              <a:t>db-demob por modelo ÷ frota de leves (SENATRAN)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45244" y="1691640"/>
            <a:ext cx="253746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045244" y="1965960"/>
            <a:ext cx="25374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 i="0">
                <a:solidFill>
                  <a:srgbClr val="0284C7"/>
                </a:solidFill>
                <a:latin typeface="Arial"/>
              </a:rPr>
              <a:t>0,98%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3844" y="2788920"/>
            <a:ext cx="20802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Arial"/>
              </a:rPr>
              <a:t>da frota total, todos os tipos, em set/2026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3844" y="3520440"/>
            <a:ext cx="20802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0284C7"/>
                </a:solidFill>
                <a:latin typeface="Arial"/>
              </a:rPr>
              <a:t>db-demob por combustível</a:t>
            </a:r>
          </a:p>
        </p:txBody>
      </p:sp>
      <p:pic>
        <p:nvPicPr>
          <p:cNvPr id="20" name="Ícone CircleInfo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" y="4553712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7104" y="4507992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334155"/>
                </a:solidFill>
                <a:latin typeface="Arial"/>
              </a:rPr>
              <a:t>A frota é o acumulado de décadas de vendas.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Mesmo com 20% das vendas, a participação na frota sobe devagar — e é a frota que a recarga e a rede precisam atender.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rial"/>
              </a:rPr>
              <a:t>Frota de leves: automóvel, camioneta, caminhonete e utilitário na tabela Frota por município e tipo da SENATRAN, set/2026 (84.173.600 veículos).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COMPARAÇÃO 7 • UF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Onde a frota está e onde se vende agora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554480"/>
          <a:ext cx="10972800" cy="3154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2926080"/>
                <a:gridCol w="2926080"/>
                <a:gridCol w="292608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UF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Frota eletrificada (combustível)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Frota de leves (modelo)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Vendas de set/2026 (ABVE)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F172A"/>
                          </a:solidFill>
                          <a:latin typeface="Arial"/>
                        </a:rPr>
                        <a:t>São Paulo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27,9%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30,5%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F172A"/>
                          </a:solidFill>
                          <a:latin typeface="Arial"/>
                        </a:rPr>
                        <a:t>Minas Gerais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7,6%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F172A"/>
                          </a:solidFill>
                          <a:latin typeface="Arial"/>
                        </a:rPr>
                        <a:t>Distrito Federal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F172A"/>
                          </a:solidFill>
                          <a:latin typeface="Arial"/>
                        </a:rPr>
                        <a:t>Rio de Janeiro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6,3%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F172A"/>
                          </a:solidFill>
                          <a:latin typeface="Arial"/>
                        </a:rPr>
                        <a:t>Paraná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5,8%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4155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109728" marR="109728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Ícone LocationDot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" y="4919472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7104" y="48920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334155"/>
                </a:solidFill>
                <a:latin typeface="Arial"/>
              </a:rPr>
              <a:t>As três medidas põem as mesmas UFs na frente. </a:t>
            </a:r>
            <a:r>
              <a:rPr sz="1350" b="0" i="0">
                <a:solidFill>
                  <a:srgbClr val="334155"/>
                </a:solidFill>
                <a:latin typeface="Arial"/>
              </a:rPr>
              <a:t>O Distrito Federal, com 1,4% da população, faz quase 8% das vendas do mês: é por isso que lidera em eletrificados por habitante.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rial"/>
              </a:rPr>
              <a:t>Parte de cada UF no total do Brasil. Frota: set/2026, no db-demob. Vendas: comunicado da ABVE de 8/10/2026.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"/>
          <p:cNvSpPr txBox="1"/>
          <p:nvPr/>
        </p:nvSpPr>
        <p:spPr>
          <a:xfrm>
            <a:off x="609904" y="45720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  <a:latin typeface="Arial"/>
              </a:rPr>
              <a:t>FONTES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904" y="7040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Arial"/>
              </a:rPr>
              <a:t>De onde vêm os números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371600"/>
            <a:ext cx="1097280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38504" y="1408176"/>
            <a:ext cx="17373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Arial"/>
              </a:rPr>
              <a:t>ABVE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21584" y="1435608"/>
            <a:ext cx="8732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Arial"/>
              </a:rPr>
              <a:t>Painel de emplacamentos de eletrificados leves por tecnologia, 2020 a set/2026 (consultado em 22/10/2026)</a:t>
            </a:r>
          </a:p>
          <a:p>
            <a:pPr algn="l"/>
            <a:r>
              <a:rPr sz="950" b="0" i="0">
                <a:solidFill>
                  <a:srgbClr val="0284C7"/>
                </a:solidFill>
                <a:latin typeface="Arial"/>
                <a:hlinkClick r:id="rId3"/>
              </a:rPr>
              <a:t>abve.org.br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2029967"/>
            <a:ext cx="1097280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38504" y="2066543"/>
            <a:ext cx="17373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Arial"/>
              </a:rPr>
              <a:t>ABVE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1584" y="2093975"/>
            <a:ext cx="8732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Arial"/>
              </a:rPr>
              <a:t>Eletrificados leves ultrapassam a marca de 1 milhão de unidades vendidas no Brasil (8/10/2026)</a:t>
            </a:r>
          </a:p>
          <a:p>
            <a:pPr algn="l"/>
            <a:r>
              <a:rPr sz="950" b="0" i="0">
                <a:solidFill>
                  <a:srgbClr val="0284C7"/>
                </a:solidFill>
                <a:latin typeface="Arial"/>
                <a:hlinkClick r:id="rId4"/>
              </a:rPr>
              <a:t>abve.org.br/eletrificados-leves-ultrapassam-a-marca-de-1-milhao-de-unidades-vendidas-no-brasil/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" y="2688336"/>
            <a:ext cx="1097280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8504" y="2724912"/>
            <a:ext cx="17373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Arial"/>
              </a:rPr>
              <a:t>ABVE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1584" y="2752344"/>
            <a:ext cx="8732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Arial"/>
              </a:rPr>
              <a:t>Balanço de 2025: vendas por tecnologia em 2024 e 2025, inclusive micro-híbridos</a:t>
            </a:r>
          </a:p>
          <a:p>
            <a:pPr algn="l"/>
            <a:r>
              <a:rPr sz="950" b="0" i="0">
                <a:solidFill>
                  <a:srgbClr val="0284C7"/>
                </a:solidFill>
                <a:latin typeface="Arial"/>
                <a:hlinkClick r:id="rId5"/>
              </a:rPr>
              <a:t>abve.org.br/eletrificados-crescem-dez-veze…o-em-2025-com-224-mil-veiculos-vendidos/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904" y="3346704"/>
            <a:ext cx="1097280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8504" y="3383280"/>
            <a:ext cx="17373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Arial"/>
              </a:rPr>
              <a:t>ABVE, via eixos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1584" y="3410712"/>
            <a:ext cx="8732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Arial"/>
              </a:rPr>
              <a:t>Vendas de 2021 por tecnologia: 2.851 BEV, 11.461 PHEV e 20.678 HEV</a:t>
            </a:r>
          </a:p>
          <a:p>
            <a:pPr algn="l"/>
            <a:r>
              <a:rPr sz="950" b="0" i="0">
                <a:solidFill>
                  <a:srgbClr val="0284C7"/>
                </a:solidFill>
                <a:latin typeface="Arial"/>
                <a:hlinkClick r:id="rId6"/>
              </a:rPr>
              <a:t>eixos.com.br/mercado-brasileiro-de-eletricos-cresce-77-no-brasil-veja-os-mais-vendidos/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904" y="4005072"/>
            <a:ext cx="1097280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38504" y="4041648"/>
            <a:ext cx="17373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Arial"/>
              </a:rPr>
              <a:t>ABVE BI Frotas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1584" y="4069080"/>
            <a:ext cx="8732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Arial"/>
              </a:rPr>
              <a:t>Base de vendas por fabricante, modelo e tecnologia, jan/2022 a set/2026 (consultada em 23/10/2026)</a:t>
            </a:r>
          </a:p>
          <a:p>
            <a:pPr algn="l"/>
            <a:r>
              <a:rPr sz="950" b="0" i="0">
                <a:solidFill>
                  <a:srgbClr val="0284C7"/>
                </a:solidFill>
                <a:latin typeface="Arial"/>
                <a:hlinkClick r:id="rId7"/>
              </a:rPr>
              <a:t>abve.org.br/bi-frotas/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904" y="4663440"/>
            <a:ext cx="1097280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504" y="4700016"/>
            <a:ext cx="17373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Arial"/>
              </a:rPr>
              <a:t>SENATRAN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21584" y="4727448"/>
            <a:ext cx="8732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Arial"/>
              </a:rPr>
              <a:t>Frota por município e tipo, set/2026 (denominador da frota de leves)</a:t>
            </a:r>
          </a:p>
          <a:p>
            <a:pPr algn="l"/>
            <a:r>
              <a:rPr sz="950" b="0" i="0">
                <a:solidFill>
                  <a:srgbClr val="0284C7"/>
                </a:solidFill>
                <a:latin typeface="Arial"/>
                <a:hlinkClick r:id="rId8"/>
              </a:rPr>
              <a:t>gov.br/transportes/pt-br/assuntos/transito/conteudo-Senatran/frota-de-veiculos-2026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904" y="5321808"/>
            <a:ext cx="1097280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8504" y="5358384"/>
            <a:ext cx="17373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Arial"/>
              </a:rPr>
              <a:t>db-demob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21584" y="5385816"/>
            <a:ext cx="8732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34155"/>
                </a:solidFill>
                <a:latin typeface="Arial"/>
              </a:rPr>
              <a:t>Pasta resultados/ do repositório (até set/2026); dez/2021 processado à parte</a:t>
            </a:r>
          </a:p>
          <a:p>
            <a:pPr algn="l"/>
            <a:r>
              <a:rPr sz="950" b="0" i="0">
                <a:solidFill>
                  <a:srgbClr val="0284C7"/>
                </a:solidFill>
                <a:latin typeface="Arial"/>
                <a:hlinkClick r:id="rId9"/>
              </a:rPr>
              <a:t>github.com/BorgesMath/Eletromobilidade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