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11"/>
    <ns0:sldId id="257" ns1:id="rId13"/>
    <ns0:sldId id="258" ns1:id="rId14"/>
    <ns0:sldId id="259" ns1:id="rId15"/>
    <ns0:sldId id="260" ns1:id="rId16"/>
    <ns0:sldId id="261" ns1:id="rId17"/>
    <ns0:sldId id="262" ns1:id="rId18"/>
    <ns0:sldId id="263" ns1:id="rId19"/>
    <ns0:sldId id="264" ns1:id="rId20"/>
    <ns0:sldId id="265" ns1:id="rId21"/>
    <ns0:sldId id="266" ns1:id="rId22"/>
  </ns0:sldIdLst>
  <ns0:sldSz cx="12192000" cy="6858000" type="screen4x3"/>
  <ns0:notesSz cx="6858000" cy="9144000"/>
  <ns0:embeddedFontLst>
    <ns0:embeddedFont>
      <ns0:font typeface="DM Sans"/>
      <ns0:bold ns1:id="rIdFont22"/>
      <ns0:regular ns1:id="rIdFont23"/>
    </ns0:embeddedFont>
    <ns0:embeddedFont>
      <ns0:font typeface="JetBrains Mono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22" Type="http://schemas.openxmlformats.org/officeDocument/2006/relationships/font" Target="fonts/c2acb75c-2c91-4031-8c02-f60c0dbd2d9b.fntdata"/><Relationship Id="rIdFont23" Type="http://schemas.openxmlformats.org/officeDocument/2006/relationships/font" Target="fonts/abf9da13-473b-4005-9b51-1d9ac922b98d.fntdata"/><Relationship Id="rIdFont24" Type="http://schemas.openxmlformats.org/officeDocument/2006/relationships/font" Target="fonts/1a514fd3-fcf9-4cd8-8e80-27fb3b752371.fntdata"/><Relationship Id="rIdFont25" Type="http://schemas.openxmlformats.org/officeDocument/2006/relationships/font" Target="fonts/c9c564c0-221f-405a-87a2-837a5d961eee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 de leves (ABVE)</c:v>
                </c:pt>
              </c:strCache>
            </c:strRef>
          </c:tx>
          <c:spPr>
            <a:solidFill>
              <a:srgbClr val="94A3B8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34.990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49.245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93.927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177.358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223.912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381.609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(jan–set)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34990</c:v>
                </c:pt>
                <c:pt idx="1">
                  <c:v>49245</c:v>
                </c:pt>
                <c:pt idx="2">
                  <c:v>93927</c:v>
                </c:pt>
                <c:pt idx="3">
                  <c:v>177358</c:v>
                </c:pt>
                <c:pt idx="4">
                  <c:v>223912</c:v>
                </c:pt>
                <c:pt idx="5">
                  <c:v>381609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Saldo da frota, todos os tipos (base por combustível)</c:v>
                </c:pt>
              </c:strCache>
            </c:strRef>
          </c:tx>
          <c:spPr>
            <a:solidFill>
              <a:srgbClr val="0284C7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43.394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65.262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127.914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223.958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321.111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50" b="1">
                        <a:solidFill>
                          <a:srgbClr val="0F172A"/>
                        </a:solidFill>
                        <a:latin typeface="Arial"/>
                      </a:rPr>
                      <a:t>494.538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(jan–set)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43394</c:v>
                </c:pt>
                <c:pt idx="1">
                  <c:v>65262</c:v>
                </c:pt>
                <c:pt idx="2">
                  <c:v>127914</c:v>
                </c:pt>
                <c:pt idx="3">
                  <c:v>223958</c:v>
                </c:pt>
                <c:pt idx="4">
                  <c:v>321111</c:v>
                </c:pt>
                <c:pt idx="5">
                  <c:v>494538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5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50"/>
          </a:pPr>
        </a:p>
      </c:txPr>
    </c:legend>
    <c:dispBlanksAs val="gap"/>
  </c:chart>
  <c:txPr>
    <a:bodyPr/>
    <a:lstStyle/>
    <a:p>
      <a:pPr>
        <a:defRPr sz="115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Elétrico (BEV)</c:v>
                </c:pt>
              </c:strCache>
            </c:strRef>
          </c:tx>
          <c:spPr>
            <a:solidFill>
              <a:srgbClr val="0284C7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Arial"/>
                      </a:rPr>
                      <a:t>37,6%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Arial"/>
                      </a:rPr>
                      <a:t>35,9%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Arial"/>
                      </a:rPr>
                      <a:t>36,4%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Vendas ABVE, 2022 a set/2026</c:v>
                </c:pt>
                <c:pt idx="1">
                  <c:v>Frota de leves, base por modelo, set/2026</c:v>
                </c:pt>
                <c:pt idx="2">
                  <c:v>Frota, campo combustível, set/2026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0.37575189928442826</c:v>
                </c:pt>
                <c:pt idx="1">
                  <c:v>0.35924241542931334</c:v>
                </c:pt>
                <c:pt idx="2">
                  <c:v>0.3640269333954565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Plug-in (PHEV)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38,8%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37,3%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F172A"/>
                        </a:solidFill>
                        <a:latin typeface="Arial"/>
                      </a:rPr>
                      <a:t>6,3%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Vendas ABVE, 2022 a set/2026</c:v>
                </c:pt>
                <c:pt idx="1">
                  <c:v>Frota de leves, base por modelo, set/2026</c:v>
                </c:pt>
                <c:pt idx="2">
                  <c:v>Frota, campo combustível, set/2026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0.38786183314978157</c:v>
                </c:pt>
                <c:pt idx="1">
                  <c:v>0.37340448710428276</c:v>
                </c:pt>
                <c:pt idx="2">
                  <c:v>0.06311537623338268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Híbrido (HEV e HEV Flex)</c:v>
                </c:pt>
              </c:strCache>
            </c:strRef>
          </c:tx>
          <c:spPr>
            <a:solidFill>
              <a:srgbClr val="475569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Arial"/>
                      </a:rPr>
                      <a:t>23,6%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Arial"/>
                      </a:rPr>
                      <a:t>26,7%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Arial"/>
                      </a:rPr>
                      <a:t>57,3%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Vendas ABVE, 2022 a set/2026</c:v>
                </c:pt>
                <c:pt idx="1">
                  <c:v>Frota de leves, base por modelo, set/2026</c:v>
                </c:pt>
                <c:pt idx="2">
                  <c:v>Frota, campo combustível, set/2026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0.23638626756579015</c:v>
                </c:pt>
                <c:pt idx="1">
                  <c:v>0.2673530974664039</c:v>
                </c:pt>
                <c:pt idx="2">
                  <c:v>0.5728576903711609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Vendidos (ABVE)</c:v>
                </c:pt>
              </c:strCache>
            </c:strRef>
          </c:tx>
          <c:spPr>
            <a:solidFill>
              <a:srgbClr val="94A3B8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64.009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101.364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137.637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(jan–set)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64009</c:v>
                </c:pt>
                <c:pt idx="1">
                  <c:v>101364</c:v>
                </c:pt>
                <c:pt idx="2">
                  <c:v>137637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Entraram na frota com o rótulo plug-in (RENAVAM)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17.760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27.773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29.295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(jan–set)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17760</c:v>
                </c:pt>
                <c:pt idx="1">
                  <c:v>27773</c:v>
                </c:pt>
                <c:pt idx="2">
                  <c:v>29295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Híbrido (HEV e HEV Flex)</c:v>
                </c:pt>
              </c:strCache>
            </c:strRef>
          </c:tx>
          <c:spPr>
            <a:solidFill>
              <a:srgbClr val="475569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Arial"/>
                      </a:rPr>
                      <a:t>35.549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Arial"/>
                      </a:rPr>
                      <a:t>42.370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 · vendas da ABVE</c:v>
                </c:pt>
                <c:pt idx="1">
                  <c:v>2024 · saldo do rótulo híbrido</c:v>
                </c:pt>
                <c:pt idx="2">
                  <c:v>2025 · vendas da ABVE</c:v>
                </c:pt>
                <c:pt idx="3">
                  <c:v>2025 · saldo do rótulo híbrido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35549</c:v>
                </c:pt>
                <c:pt idx="1">
                  <c:v>0</c:v>
                </c:pt>
                <c:pt idx="2">
                  <c:v>42370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Micro-híbrido</c:v>
                </c:pt>
              </c:strCache>
            </c:strRef>
          </c:tx>
          <c:spPr>
            <a:solidFill>
              <a:srgbClr val="38BDF8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F172A"/>
                        </a:solidFill>
                        <a:latin typeface="Arial"/>
                      </a:rPr>
                      <a:t>16.185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F172A"/>
                        </a:solidFill>
                        <a:latin typeface="Arial"/>
                      </a:rPr>
                      <a:t>61.340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 · vendas da ABVE</c:v>
                </c:pt>
                <c:pt idx="1">
                  <c:v>2024 · saldo do rótulo híbrido</c:v>
                </c:pt>
                <c:pt idx="2">
                  <c:v>2025 · vendas da ABVE</c:v>
                </c:pt>
                <c:pt idx="3">
                  <c:v>2025 · saldo do rótulo híbrido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16185</c:v>
                </c:pt>
                <c:pt idx="1">
                  <c:v>0</c:v>
                </c:pt>
                <c:pt idx="2">
                  <c:v>61340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Plug-in sem rótulo plug-in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F172A"/>
                        </a:solidFill>
                        <a:latin typeface="Arial"/>
                      </a:rPr>
                      <a:t>46.249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F172A"/>
                        </a:solidFill>
                        <a:latin typeface="Arial"/>
                      </a:rPr>
                      <a:t>73.591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 · vendas da ABVE</c:v>
                </c:pt>
                <c:pt idx="1">
                  <c:v>2024 · saldo do rótulo híbrido</c:v>
                </c:pt>
                <c:pt idx="2">
                  <c:v>2025 · vendas da ABVE</c:v>
                </c:pt>
                <c:pt idx="3">
                  <c:v>2025 · saldo do rótulo híbrido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46249</c:v>
                </c:pt>
                <c:pt idx="1">
                  <c:v>0</c:v>
                </c:pt>
                <c:pt idx="2">
                  <c:v>73591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Saldo do rótulo híbrido (RENAVAM)</c:v>
                </c:pt>
              </c:strCache>
            </c:strRef>
          </c:tx>
          <c:spPr>
            <a:solidFill>
              <a:srgbClr val="0284C7"/>
            </a:solidFill>
            <a:ln>
              <a:noFill/>
            </a:ln>
          </c:spPr>
          <c:dLbls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Arial"/>
                      </a:rPr>
                      <a:t>112.709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Arial"/>
                      </a:rPr>
                      <a:t>192.442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 · vendas da ABVE</c:v>
                </c:pt>
                <c:pt idx="1">
                  <c:v>2024 · saldo do rótulo híbrido</c:v>
                </c:pt>
                <c:pt idx="2">
                  <c:v>2025 · vendas da ABVE</c:v>
                </c:pt>
                <c:pt idx="3">
                  <c:v>2025 · saldo do rótulo híbrido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112709</c:v>
                </c:pt>
                <c:pt idx="2">
                  <c:v>0</c:v>
                </c:pt>
                <c:pt idx="3">
                  <c:v>192442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Esta apresentação confronta a base de eletromobilidade, que mede a frota registrada no RENAVAM, com o ABVE Data, que mede as vendas de eletrificados leves. As duas fontes são independentes, e é isso que dá valor à comparação: onde concordam, a base ganha respaldo; onde discordam, aparece o erro de uma delas.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comparar, o que cada fonte mede. A ABVE conta vendas, que são um fluxo: quantos carros novos foram emplacados. Esta base conta a frota, que é um estoque: quantos estão registrados num mês. Para comparar as duas, compara-se o crescimento da frota num período com as vendas do mesmo período, e só no mesmo recorte de veículos.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comparação mais direta. Entre dezembro de 2020 e setembro de 2026, a frota de eletrificados leves da base por modelo cresceu 972 mil veículos. A ABVE vendeu 961 mil no período, mas esse total inclui micro-híbridos até 2024; sem eles, são cerca de 928 mil. A frota cresceu 5% mais que as vendas comparáveis. Como a ABVE não desconta baixas, o esperado seria o contrário: a folga é o erro que ainda sobra numa das pontas.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mesmo confronto, ano a ano, agora com a base por combustível, que tem a série mensal completa. O saldo da frota eletrificada fica em torno de 1,3 vez as vendas da ABVE todo ano, porque a base por combustível inclui moto, ônibus e caminhão e conta o micro-híbrido flex como híbrido. A razão sobe em 2025 justamente quando a ABVE deixa de contar os micro-híbridos.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comparação que mais diz sobre a classificação. A divisão entre elétrico, plug-in e híbrido da base por modelo reproduz a das vendas da ABVE, com diferença de dois a três pontos. A do campo combustível do RENAVAM, não: põe 57% em híbrido e 6% em plug-in, porque o plug-in sem rótulo e o micro-híbrido caem em híbrido.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plug-in ano a ano. Em cada ano, o número de plug-ins que entram na frota com o rótulo HIBRIDO PLUG-IN é cerca de um quarto dos plug-ins que a ABVE contou como vendidos. Os outros três quartos entram no RENAVAM com outro rótulo, quase sempre como híbrido. No acumulado, a ABVE vendeu 346 mil plug-ins de 2022 a setembro de 2026, e a base por modelo acha 379 mil na frota.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onde vão os plug-ins sem rótulo. O saldo anual do rótulo híbrido no RENAVAM é bem maior que as vendas de híbridos da ABVE. Somando três coisas da ABVE, o híbrido de verdade, o micro-híbrido e o plug-in que não entrou com o rótulo plug-in, chega-se a 87% do saldo em 2024 e a 92% em 2025. O campo combustível junta as três no mesmo rótulo.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a participação na frota é tão menor que nas vendas. Em setembro de 2026, um em cada cinco veículos leves vendidos foi eletrificado. Na frota de leves, é pouco mais de um em cada cem. A frota é o acumulado de décadas de vendas, e muda devagar: mesmo a 20% das vendas, leva anos para a participação na frota subir de forma 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distribuição por UF é parecida nas três medidas: as mesmas cinco UFs na frente, na mesma ordem de grandeza. O Distrito Federal tem 1,4% da população e quase 8% das vendas de eletrificados do mês, o que explica a liderança em eletrificados por habitante.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levar da comparação. As duas fontes concordam no tamanho da frota eletrificada e na divisão por tecnologia quando se usa a base por modelo. O campo combustível do RENAVAM serve para o total e para o município, mas não para separar plug-in de híbrido, e inclui micro-híbridos.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dos números. Os da ABVE vêm do painel ABVE Data e dos comunicados oficiais; os desta base, da pasta resultados/ do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bve.org.br" TargetMode="External"/><Relationship Id="rId4" Type="http://schemas.openxmlformats.org/officeDocument/2006/relationships/hyperlink" Target="https://abve.org.br/eletrificados-leves-ultrapassam-a-marca-de-1-milhao-de-unidades-vendidas-no-brasil/" TargetMode="External"/><Relationship Id="rId5" Type="http://schemas.openxmlformats.org/officeDocument/2006/relationships/hyperlink" Target="https://abve.org.br/eletrificados-crescem-dez-vezes-mais-do-que-conjunto-do-mercado-em-2025-com-224-mil-veiculos-vendidos/" TargetMode="External"/><Relationship Id="rId6" Type="http://schemas.openxmlformats.org/officeDocument/2006/relationships/hyperlink" Target="https://www.gov.br/transportes/pt-br/assuntos/transito/conteudo-Senatran/frota-de-veiculos-2026" TargetMode="External"/><Relationship Id="rId7" Type="http://schemas.openxmlformats.org/officeDocument/2006/relationships/hyperlink" Target="https://github.com/BorgesMath/Eletromobilidad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0574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Arial"/>
              </a:rPr>
              <a:t>BORGESMATH/ELETROMOBILIDADE • COMPARAÇÃO EXTERNA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2441448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8FAFC"/>
                </a:solidFill>
                <a:latin typeface="Arial"/>
              </a:rPr>
              <a:t>Esta base e o ABVE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310128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94A3B8"/>
                </a:solidFill>
                <a:latin typeface="Arial"/>
              </a:rPr>
              <a:t>A frota registrada no RENAVAM comparada às vendas de eletrificados leves da ABVE, de 2020 a setembro de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4343400"/>
            <a:ext cx="6858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PONTO DE PARTIDA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Duas fontes, duas perguntas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530352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Ícone ChartColum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" y="1828800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2864" y="1810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ABVE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944" y="23774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4C7"/>
                </a:solidFill>
                <a:latin typeface="Arial"/>
              </a:rPr>
              <a:t>Quantos eletrificados leves foram vendidos?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944" y="288036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Conta: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emplacamentos de veículos leves novos, mês a mês, desde 2012.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Tecnologias: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BEV, PHEV, HEV e HEV Flex. O micro-híbrido saiu da conta em 2025.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Não desconta: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veículo baixado, roubado ou que deixou de circular.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Não conta: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moto, ônibus e caminhão.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9184" y="1554480"/>
            <a:ext cx="530352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Ícone Databas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24" y="182880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2144" y="1810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Esta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9224" y="23774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4C7"/>
                </a:solidFill>
                <a:latin typeface="Arial"/>
              </a:rPr>
              <a:t>Quantos eletrificados estão registrados?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9224" y="288036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Conta: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 frota registrada no RENAVAM no mês, por município.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Tecnologias: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pelo campo combustível ou pelo nome do modelo.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334155"/>
                </a:solidFill>
                <a:latin typeface="Arial"/>
              </a:rPr>
              <a:t>Desconta: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que foi baixado do cadastro.</a:t>
            </a:r>
          </a:p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Inclui: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carro, moto, ônibus e caminhão; a base por modelo separa por tipo.</a:t>
            </a:r>
          </a:p>
        </p:txBody>
      </p:sp>
      <p:pic>
        <p:nvPicPr>
          <p:cNvPr id="14" name="Ícone CircleInfo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" y="5559552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9088" y="5577840"/>
            <a:ext cx="10643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rial"/>
              </a:rPr>
              <a:t>Vendas são fluxo; frota é estoque. A comparação justa é o crescimento da frota contra as vendas do mesmo período.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1 • TOTAL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Crescimento da frota e vendas: a mesma ordem de grandeza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34442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904" y="1783080"/>
            <a:ext cx="344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284C7"/>
                </a:solidFill>
                <a:latin typeface="Arial"/>
              </a:rPr>
              <a:t>972.206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4224" y="2560320"/>
            <a:ext cx="289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a mais na frota de eletrificados leves, de dez/2020 a set/2026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" y="324612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  <a:latin typeface="Arial"/>
              </a:rPr>
              <a:t>base por modelo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184" y="1554480"/>
            <a:ext cx="34442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74184" y="1783080"/>
            <a:ext cx="344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75569"/>
                </a:solidFill>
                <a:latin typeface="Arial"/>
              </a:rPr>
              <a:t>961.041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504" y="2560320"/>
            <a:ext cx="289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eletrificados leves vendidos de jan/2021 a set/2026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504" y="324612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  <a:latin typeface="Arial"/>
              </a:rPr>
              <a:t>ABVE, com micro-híbridos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464" y="1554480"/>
            <a:ext cx="34442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38464" y="1783080"/>
            <a:ext cx="344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284C7"/>
                </a:solidFill>
                <a:latin typeface="Arial"/>
              </a:rPr>
              <a:t>927.581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784" y="2560320"/>
            <a:ext cx="289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os mesmos, sem os micro-híbridos que a ABVE contava até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784" y="3246120"/>
            <a:ext cx="289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  <a:latin typeface="Arial"/>
              </a:rPr>
              <a:t>ABVE, sem micro-híbridos</a:t>
            </a:r>
          </a:p>
        </p:txBody>
      </p:sp>
      <p:pic>
        <p:nvPicPr>
          <p:cNvPr id="16" name="Ícone ScaleBalance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4133087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7104" y="4114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Mesma ordem de grandeza: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 frota de leves cresceu 4,8% mais do que as vendas sem micro-híbridos.</a:t>
            </a:r>
          </a:p>
        </p:txBody>
      </p:sp>
      <p:pic>
        <p:nvPicPr>
          <p:cNvPr id="18" name="Ícone TriangleExclamati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4910327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7104" y="48920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Mas a folga existe: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a ABVE não desconta baixas, então a frota deveria crescer um pouco menos que as vendas, não mais. Os 44.625 a mais são erro que sobra numa das pontas.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Arial"/>
              </a:rPr>
              <a:t>Sem cruzar veículo a veículo não dá para dizer em qual ponta está a folga.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2 • ANO A ANO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O saldo da frota acompanha as vendas, ano a ano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73152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9944" y="175564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Eletrificados, em veículos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784" y="2057400"/>
          <a:ext cx="694944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554480"/>
            <a:ext cx="3355848" cy="4343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20" y="18105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SALDO ÷ VENDAS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194560"/>
            <a:ext cx="28346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Arial"/>
              </a:rPr>
              <a:t>2021 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1,24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Arial"/>
              </a:rPr>
              <a:t>2022 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1,33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Arial"/>
              </a:rPr>
              <a:t>2023 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1,36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Arial"/>
              </a:rPr>
              <a:t>2024 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1,26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Arial"/>
              </a:rPr>
              <a:t>2025   </a:t>
            </a:r>
            <a:r>
              <a:rPr sz="1500" b="1" i="0">
                <a:solidFill>
                  <a:srgbClr val="F59E0B"/>
                </a:solidFill>
                <a:latin typeface="Arial"/>
              </a:rPr>
              <a:t>1,43</a:t>
            </a:r>
          </a:p>
          <a:p>
            <a:pPr algn="l"/>
            <a:r>
              <a:rPr sz="1500" b="0" i="0">
                <a:solidFill>
                  <a:srgbClr val="94A3B8"/>
                </a:solidFill>
                <a:latin typeface="Arial"/>
              </a:rPr>
              <a:t>2026* 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1,30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43484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Em 2025 a ABVE tira os micro-híbridos da conta, e a razão sobe: eles seguem no "híbrido" do RENAVAM.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1081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Saldo: frota de dezembro menos a do dezembro anterior (2026: set/2026 menos dez/2025).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3 • TECNOLOGIA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A base por modelo tem o mix das vendas; o campo combustível,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4813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Parte de cada tecnologia em BEV + PHEV + HEV (micro-híbrido fora)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904" y="1783080"/>
          <a:ext cx="109728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Ícone CircleCheck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5550408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7104" y="5513832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O plug-in é o teste: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38,8% nas vendas, 37,3% pela base por modelo e 6,3% pelo campo combustível.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4 • PLUG-IN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Só um quarto dos plug-ins vendidos entra com o rótulo plug-in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54480"/>
            <a:ext cx="69494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9944" y="17556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Híbridos plug-in, em veículos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784" y="2057400"/>
          <a:ext cx="662940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554480"/>
            <a:ext cx="3721608" cy="4206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38160" y="18105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RÓTULO ÷ VENDAS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9456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94A3B8"/>
                </a:solidFill>
                <a:latin typeface="Arial"/>
              </a:rPr>
              <a:t>2024 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28%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94A3B8"/>
                </a:solidFill>
                <a:latin typeface="Arial"/>
              </a:rPr>
              <a:t>2025 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27%</a:t>
            </a:r>
          </a:p>
          <a:p>
            <a:pPr algn="l"/>
            <a:r>
              <a:rPr sz="1700" b="0" i="0">
                <a:solidFill>
                  <a:srgbClr val="94A3B8"/>
                </a:solidFill>
                <a:latin typeface="Arial"/>
              </a:rPr>
              <a:t>2026 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657600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94A3B8"/>
                </a:solidFill>
                <a:latin typeface="Arial"/>
              </a:rPr>
              <a:t>No acumulado de 2022 a set/2026: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346.195 vendidos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38BDF8"/>
                </a:solidFill>
                <a:latin typeface="Arial"/>
              </a:rPr>
              <a:t>378.755 pela base por modelo</a:t>
            </a:r>
          </a:p>
          <a:p>
            <a:pPr algn="l"/>
            <a:r>
              <a:rPr sz="1350" b="1" i="0">
                <a:solidFill>
                  <a:srgbClr val="F59E0B"/>
                </a:solidFill>
                <a:latin typeface="Arial"/>
              </a:rPr>
              <a:t>83.987 com o rótulo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Rótulo: aumento anual da frota com o rótulo HIBRIDO PLUG-IN na base por combustível.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5 • HÍBRIDO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O "híbrido" do RENAVAM junta três coisas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904" y="1600200"/>
          <a:ext cx="8092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600200"/>
            <a:ext cx="2670048" cy="40233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0" y="185623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AS TRÊS SOMADAS COBREM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24028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94A3B8"/>
                </a:solidFill>
                <a:latin typeface="Arial"/>
              </a:rPr>
              <a:t>2024 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87%</a:t>
            </a:r>
          </a:p>
          <a:p>
            <a:pPr algn="l"/>
            <a:r>
              <a:rPr sz="2000" b="0" i="0">
                <a:solidFill>
                  <a:srgbClr val="94A3B8"/>
                </a:solidFill>
                <a:latin typeface="Arial"/>
              </a:rPr>
              <a:t>2025 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246120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Arial"/>
              </a:rPr>
              <a:t>do aumento do rótulo híbrido. O resto é o que nenhuma das duas fontes explica sozinha.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Plug-in sem rótulo = plug-ins vendidos (ABVE) menos o aumento do rótulo plug-in no RENAVAM.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6 • PARTICIPAÇÃO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Na venda, um em cada cinco; na frota, pouco mais de um em cada cem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691640"/>
            <a:ext cx="25374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904" y="1965960"/>
            <a:ext cx="25374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  <a:latin typeface="Arial"/>
              </a:rPr>
              <a:t>19,8%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" y="2788920"/>
            <a:ext cx="20802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dos leves vendidos em set/2026 eram eletrificados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3520440"/>
            <a:ext cx="20802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284C7"/>
                </a:solidFill>
                <a:latin typeface="Arial"/>
              </a:rPr>
              <a:t>ABVE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1684" y="1691640"/>
            <a:ext cx="25374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1684" y="1965960"/>
            <a:ext cx="25374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475569"/>
                </a:solidFill>
                <a:latin typeface="Arial"/>
              </a:rPr>
              <a:t>6,43%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0284" y="2788920"/>
            <a:ext cx="20802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dos leves vendidos de jan/2020 a set/2026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0284" y="3520440"/>
            <a:ext cx="20802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284C7"/>
                </a:solidFill>
                <a:latin typeface="Arial"/>
              </a:rPr>
              <a:t>ABVE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464" y="1691640"/>
            <a:ext cx="25374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33464" y="1965960"/>
            <a:ext cx="25374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284C7"/>
                </a:solidFill>
                <a:latin typeface="Arial"/>
              </a:rPr>
              <a:t>1,21%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2064" y="2788920"/>
            <a:ext cx="20802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da frota de leves em set/2026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2064" y="3520440"/>
            <a:ext cx="20802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284C7"/>
                </a:solidFill>
                <a:latin typeface="Arial"/>
              </a:rPr>
              <a:t>base por modelo ÷ frota de leves (SENATRAN)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5244" y="1691640"/>
            <a:ext cx="25374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45244" y="1965960"/>
            <a:ext cx="25374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284C7"/>
                </a:solidFill>
                <a:latin typeface="Arial"/>
              </a:rPr>
              <a:t>0,98%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3844" y="2788920"/>
            <a:ext cx="20802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da frota total, todos os tipos, em set/2026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3844" y="3520440"/>
            <a:ext cx="20802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284C7"/>
                </a:solidFill>
                <a:latin typeface="Arial"/>
              </a:rPr>
              <a:t>base por combustível</a:t>
            </a:r>
          </a:p>
        </p:txBody>
      </p:sp>
      <p:pic>
        <p:nvPicPr>
          <p:cNvPr id="20" name="Ícone CircleInfo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45537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7104" y="45079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A frota é o acumulado de décadas de vendas.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Mesmo com 20% das vendas, a participação na frota sobe devagar — e é a frota que a recarga e a rede precisam atender.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Frota de leves: automóvel, camioneta, caminhonete e utilitário na tabela Frota por município e tipo da SENATRAN, set/2026 (84.173.600 veículos).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7 • UF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Onde a frota está e onde se vende agora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554480"/>
          <a:ext cx="10972800" cy="315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926080"/>
                <a:gridCol w="2926080"/>
                <a:gridCol w="29260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UF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Frota eletrificada (combustível)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Frota de leves (modelo)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Vendas de set/2026 (ABVE)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São Paulo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Minas Gerais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Distrito Federal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Rio de Janeiro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Paraná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Ícone LocationDo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4919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7104" y="48920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As três medidas põem as mesmas UFs na frente.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Distrito Federal, com 1,4% da população, faz quase 8% das vendas do mês: é por isso que lidera em eletrificados por habitante.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Parte de cada UF no total do Brasil. Frota: set/2026, nesta base. Vendas: comunicado da ABVE de 8/10/2026.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640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O QUE A COMPARAÇÃO MOSTRA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601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Arial"/>
              </a:rPr>
              <a:t>Mesma frota nas duas fontes, com uma exceção</a:t>
            </a:r>
          </a:p>
        </p:txBody>
      </p:sp>
      <p:pic>
        <p:nvPicPr>
          <p:cNvPr id="4" name="Ícone ScaleBalanced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30551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2103120"/>
            <a:ext cx="10149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Tamanho: </a:t>
            </a:r>
            <a:r>
              <a:rPr sz="1500" b="0" i="0">
                <a:solidFill>
                  <a:srgbClr val="94A3B8"/>
                </a:solidFill>
                <a:latin typeface="Arial"/>
              </a:rPr>
              <a:t>a frota de leves cresceu 972 mil; a ABVE vendeu entre 928 e 961 mil. Mesma ordem de grandeza, com folga de 5%.</a:t>
            </a:r>
          </a:p>
        </p:txBody>
      </p:sp>
      <p:pic>
        <p:nvPicPr>
          <p:cNvPr id="6" name="Ícone CircleCheck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136391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3108960"/>
            <a:ext cx="10149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Tecnologia: </a:t>
            </a:r>
            <a:r>
              <a:rPr sz="1500" b="0" i="0">
                <a:solidFill>
                  <a:srgbClr val="94A3B8"/>
                </a:solidFill>
                <a:latin typeface="Arial"/>
              </a:rPr>
              <a:t>a base por modelo reproduz o mix das vendas: 36% elétrico, 37% plug-in, 27% híbrido.</a:t>
            </a:r>
          </a:p>
        </p:txBody>
      </p:sp>
      <p:pic>
        <p:nvPicPr>
          <p:cNvPr id="8" name="Ícone TriangleExclamati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142232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4114800"/>
            <a:ext cx="10149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 exceção: </a:t>
            </a:r>
            <a:r>
              <a:rPr sz="1500" b="0" i="0">
                <a:solidFill>
                  <a:srgbClr val="94A3B8"/>
                </a:solidFill>
                <a:latin typeface="Arial"/>
              </a:rPr>
              <a:t>o rótulo plug-in do RENAVAM pega cerca de um quarto dos plug-ins; o resto vira "híbrido", junto com o micro-híbrido.</a:t>
            </a:r>
          </a:p>
        </p:txBody>
      </p:sp>
      <p:pic>
        <p:nvPicPr>
          <p:cNvPr id="10" name="Ícone CircleInfo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148072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5120640"/>
            <a:ext cx="10149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Na prática: </a:t>
            </a:r>
            <a:r>
              <a:rPr sz="1500" b="0" i="0">
                <a:solidFill>
                  <a:srgbClr val="94A3B8"/>
                </a:solidFill>
                <a:latin typeface="Arial"/>
              </a:rPr>
              <a:t>para separar por tecnologia, a base por modelo; para o total e o município, a base por combustível, sabendo que ela inclui micro-híbridos.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FONTES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De onde vêm os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508760"/>
            <a:ext cx="109728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38504" y="1563624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1584" y="1572768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Painel de emplacamentos de eletrificados leves por tecnologia, 2020 a set/2026 (consultado em 22/10/2026)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3"/>
              </a:rPr>
              <a:t>abve.org.br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2240280"/>
            <a:ext cx="109728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8504" y="2295144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1584" y="2304288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Eletrificados leves ultrapassam a marca de 1 milhão de unidades vendidas no Brasil (8/10/2026)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4"/>
              </a:rPr>
              <a:t>abve.org.br/eletrificados-leves-ultrapassam-a-marca-de-1-milhao-de-unidades-vendidas-no-brasil/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2971800"/>
            <a:ext cx="109728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8504" y="3026664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1584" y="3035808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Balanço de 2025: vendas por tecnologia em 2024 e 2025, inclusive micro-híbridos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5"/>
              </a:rPr>
              <a:t>abve.org.br/eletrificados-crescem-dez-veze…o-em-2025-com-224-mil-veiculos-vendidos/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3703320"/>
            <a:ext cx="109728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8504" y="3758184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SENATRAN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1584" y="3767328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Frota por município e tipo, set/2026 (denominador da frota de leves)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6"/>
              </a:rPr>
              <a:t>gov.br/transportes/pt-br/assuntos/transito/conteudo-Senatran/frota-de-veiculos-2026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" y="4434840"/>
            <a:ext cx="109728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8504" y="4489703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Esta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1584" y="4498848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Repositório BorgesMath/Eletromobilidade, pasta resultados/ (série até set/2026)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7"/>
              </a:rPr>
              <a:t>github.com/BorgesMath/Eletromobilidade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