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11"/>
    <ns0:sldId id="257" ns1:id="rId13"/>
    <ns0:sldId id="258" ns1:id="rId14"/>
    <ns0:sldId id="259" ns1:id="rId15"/>
    <ns0:sldId id="260" ns1:id="rId16"/>
    <ns0:sldId id="261" ns1:id="rId17"/>
    <ns0:sldId id="262" ns1:id="rId18"/>
    <ns0:sldId id="263" ns1:id="rId19"/>
    <ns0:sldId id="264" ns1:id="rId20"/>
    <ns0:sldId id="265" ns1:id="rId21"/>
    <ns0:sldId id="266" ns1:id="rId22"/>
    <ns0:sldId id="267" ns1:id="rId23"/>
    <ns0:sldId id="268" ns1:id="rId24"/>
    <ns0:sldId id="269" ns1:id="rId25"/>
    <ns0:sldId id="270" ns1:id="rId26"/>
    <ns0:sldId id="271" ns1:id="rId27"/>
    <ns0:sldId id="272" ns1:id="rId28"/>
    <ns0:sldId id="273" ns1:id="rId29"/>
    <ns0:sldId id="274" ns1:id="rId30"/>
    <ns0:sldId id="275" ns1:id="rId31"/>
    <ns0:sldId id="276" ns1:id="rId32"/>
    <ns0:sldId id="277" ns1:id="rId33"/>
    <ns0:sldId id="278" ns1:id="rId34"/>
    <ns0:sldId id="279" ns1:id="rId35"/>
    <ns0:sldId id="280" ns1:id="rId36"/>
    <ns0:sldId id="281" ns1:id="rId37"/>
    <ns0:sldId id="282" ns1:id="rId38"/>
    <ns0:sldId id="283" ns1:id="rId39"/>
  </ns0:sldIdLst>
  <ns0:sldSz cx="12192000" cy="6858000" type="screen4x3"/>
  <ns0:notesSz cx="6858000" cy="9144000"/>
  <ns0:embeddedFontLst>
    <ns0:embeddedFont>
      <ns0:font typeface="DM Sans"/>
      <ns0:bold ns1:id="rIdFont22"/>
      <ns0:regular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2" Type="http://schemas.openxmlformats.org/officeDocument/2006/relationships/font" Target="fonts/c2acb75c-2c91-4031-8c02-f60c0dbd2d9b.fntdata"/><Relationship Id="rIdFont23" Type="http://schemas.openxmlformats.org/officeDocument/2006/relationships/font" Target="fonts/abf9da13-473b-4005-9b51-1d9ac922b98d.fntdata"/><Relationship Id="rIdFont24" Type="http://schemas.openxmlformats.org/officeDocument/2006/relationships/font" Target="fonts/1a514fd3-fcf9-4cd8-8e80-27fb3b752371.fntdata"/><Relationship Id="rIdFont25" Type="http://schemas.openxmlformats.org/officeDocument/2006/relationships/font" Target="fonts/c9c564c0-221f-405a-87a2-837a5d961eee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94A3B8"/>
              </a:solidFill>
              <a:ln>
                <a:noFill/>
              </a:ln>
            </c:spPr>
          </c:dPt>
          <c:dPt>
            <c:idx val="1"/>
            <c:spPr>
              <a:solidFill>
                <a:srgbClr val="0284C7"/>
              </a:solidFill>
              <a:ln>
                <a:noFill/>
              </a:ln>
            </c:spPr>
          </c:dPt>
          <c:dPt>
            <c:idx val="2"/>
            <c:spPr>
              <a:solidFill>
                <a:srgbClr val="F59E0B"/>
              </a:solidFill>
              <a:ln>
                <a:noFill/>
              </a:ln>
            </c:spPr>
          </c:dPt>
          <c:dPt>
            <c:idx val="3"/>
            <c:spPr>
              <a:solidFill>
                <a:srgbClr val="F59E0B"/>
              </a:solidFill>
              <a:ln>
                <a:noFill/>
              </a:ln>
            </c:spPr>
          </c:dPt>
          <c:dPt>
            <c:idx val="4"/>
            <c:spPr>
              <a:solidFill>
                <a:srgbClr val="0284C7"/>
              </a:solidFill>
              <a:ln>
                <a:noFill/>
              </a:ln>
            </c:spPr>
          </c:dPt>
          <c:dPt>
            <c:idx val="5"/>
            <c:spPr>
              <a:solidFill>
                <a:srgbClr val="0284C7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1,00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0,91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4,51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0,77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Frota total</c:v>
                </c:pt>
                <c:pt idx="1">
                  <c:v>Elétrico</c:v>
                </c:pt>
                <c:pt idx="2">
                  <c:v>Plug-in</c:v>
                </c:pt>
                <c:pt idx="3">
                  <c:v>Híbrido convencional</c:v>
                </c:pt>
                <c:pt idx="4">
                  <c:v>Híbridos somados</c:v>
                </c:pt>
                <c:pt idx="5">
                  <c:v>Frota eletrificada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0.914</c:v>
                </c:pt>
                <c:pt idx="2">
                  <c:v>4.51</c:v>
                </c:pt>
                <c:pt idx="3">
                  <c:v>0.356</c:v>
                </c:pt>
                <c:pt idx="4">
                  <c:v>0.768</c:v>
                </c:pt>
                <c:pt idx="5">
                  <c:v>0.821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0284C7"/>
              </a:solidFill>
              <a:ln>
                <a:noFill/>
              </a:ln>
            </c:spPr>
          </c:dPt>
          <c:dPt>
            <c:idx val="1"/>
            <c:spPr>
              <a:solidFill>
                <a:srgbClr val="F59E0B"/>
              </a:solidFill>
              <a:ln>
                <a:noFill/>
              </a:ln>
            </c:spPr>
          </c:dPt>
          <c:dPt>
            <c:idx val="2"/>
            <c:spPr>
              <a:solidFill>
                <a:srgbClr val="94A3B8"/>
              </a:solidFill>
              <a:ln>
                <a:noFill/>
              </a:ln>
            </c:spPr>
          </c:dPt>
          <c:dPt>
            <c:idx val="3"/>
            <c:spPr>
              <a:solidFill>
                <a:srgbClr val="94A3B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92,8%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6,9%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0,1%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Automóvel e comercial leve</c:v>
                </c:pt>
                <c:pt idx="1">
                  <c:v>Moto, scooter e ciclomotor</c:v>
                </c:pt>
                <c:pt idx="2">
                  <c:v>Caminhão</c:v>
                </c:pt>
                <c:pt idx="3">
                  <c:v>Ônibus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0.9281</c:v>
                </c:pt>
                <c:pt idx="1">
                  <c:v>0.0687</c:v>
                </c:pt>
                <c:pt idx="2">
                  <c:v>0.0024</c:v>
                </c:pt>
                <c:pt idx="3">
                  <c:v>0.0008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  <a:ln>
                <a:noFill/>
              </a:ln>
            </c:spPr>
          </c:dPt>
          <c:dPt>
            <c:idx val="1"/>
            <c:spPr>
              <a:solidFill>
                <a:srgbClr val="94A3B8"/>
              </a:solidFill>
              <a:ln>
                <a:noFill/>
              </a:ln>
            </c:spPr>
          </c:dPt>
          <c:dPt>
            <c:idx val="2"/>
            <c:spPr>
              <a:solidFill>
                <a:srgbClr val="94A3B8"/>
              </a:solidFill>
              <a:ln>
                <a:noFill/>
              </a:ln>
            </c:spPr>
          </c:dPt>
          <c:dPt>
            <c:idx val="3"/>
            <c:spPr>
              <a:solidFill>
                <a:srgbClr val="0284C7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F172A"/>
                        </a:solidFill>
                        <a:latin typeface="Arial"/>
                      </a:rPr>
                      <a:t>83.987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F172A"/>
                        </a:solidFill>
                        <a:latin typeface="Arial"/>
                      </a:rPr>
                      <a:t>165.373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F172A"/>
                        </a:solidFill>
                        <a:latin typeface="Arial"/>
                      </a:rPr>
                      <a:t>346.195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F172A"/>
                        </a:solidFill>
                        <a:latin typeface="Arial"/>
                      </a:rPr>
                      <a:t>378.755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Rótulo plug-in do RENAVAM (frota, set/2026)</c:v>
                </c:pt>
                <c:pt idx="1">
                  <c:v>Vendas ABVE, 2024 e 2025</c:v>
                </c:pt>
                <c:pt idx="2">
                  <c:v>Vendas ABVE, 2022 a set/2026</c:v>
                </c:pt>
                <c:pt idx="3">
                  <c:v>Base por modelo (frota, set/2026)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83987</c:v>
                </c:pt>
                <c:pt idx="1">
                  <c:v>165373</c:v>
                </c:pt>
                <c:pt idx="2">
                  <c:v>346195</c:v>
                </c:pt>
                <c:pt idx="3">
                  <c:v>378755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5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7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5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A apresentação explica o caminho dos dados no repositório em três partes: o que entra, o que o código faz com isso e o que sai no fim. Tudo o que está aqui pode ser conferido no próprio código e nas tabelas de resultados/.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da apresentação. Os dados percorrem três etapas e cada uma vira uma parte daqui. A regra de ouro é o que dá confiança ao resultado: nenhuma decisão sobre os dados fica escondida no Power BI; tudo está em Python ou em tabelas de texto, e há teste automatizado para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Começa a parte de entrada. Vale separar três tipos de insumo: os dados de frota, que mudam todo mês; as referências oficiais, que mudam pouco; e as regras, que são o conhecimento do projeto escrito em tabelas.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SENATRAN publica a frota registrada no RENAVAM em vários recortes. O projeto usa dois. O ponto didático é a complementaridade: o arquivo por combustível diz a tecnologia mas não o modelo; o arquivo por modelo diz o modelo mas não o combustível. Por isso a tecnologia na base por modelo precisa ser inferida do nome, e as duas bases são comparadas.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coleta é a parte mais frágil, porque depende de servidores do governo. Os quatro passos existem por causa de problemas reais: a API cai, os nomes de arquivo mudam de um mês para outro, downloads de 137 MB param no meio e o portal às vezes entrega uma página HTML no lugar do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tabelas oficiais completam a frota. Todas viram um instantâneo versionado no repositório, para que o processamento seja reproduzível e não dependa de a API estar no ar no dia. Quando o IBGE publica dado novo, um comando regera o instantâneo.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regras são o conhecimento do projeto, e ficam fora do código, em arquivos de texto. Isso permite revisar uma decisão linha a linha, cada uma com nota da razão, e um teste confere que a tabela é válida antes de ela ser usada.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Começa a parte de tratamento, que é o coração do projeto. As seis etapas vêm a seguir, uma a 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do tratamento. Cada etapa resolve um problema concreto do dado bruto. As próximas telas detalham cada uma, na ordem em que o código as executa.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Etapas 1 e 2. O arquivo bruto tem variação de formato e defeitos de publicação. O código padroniza tudo e trata cinco defeitos conhecidos; cada ajuste fica registrado na tabela de qualidade, para que ninguém precise confiar de olhos fechados.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 3, a mais importante. Na base por combustível a tecnologia vem de um campo oficial e basta uma tabela. Na base por modelo ela precisa ser deduzida do nome, por regras em ordem: a primeira que casa vence. As armadilhas em âmbar mostram por que a ordem importa. Híbrido leve, o de 12 ou 48 volts, fica fora da frota eletrificada.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Ainda na etapa 3, o mesmo nome dá mais duas informações: a marca e o tipo de veículo. E o Inmetro funciona como conferência externa: quando a regra discorda do que o fabricante declarou, o código avisa. Foi assim que dois erros reais foram achados.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 4. A SENATRAN escreve o município pelo nome, e o nome não é estável. O código do IBGE resolve: é fixo, liga a base a qualquer outra tabela do IBGE e mantém a série contínua mesmo quando a grafia muda, como em Embu das 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Ainda na etapa 4, um cuidado didático: nem todo ano tem estimativa de população. 2022 é o ano do Censo e 2023 ficou sem estimativa. A regra usa a estimativa do mesmo lado do Censo 2022, por isso 2022 e 2023 usam a de 2024. A troca de base em 2022 é real: entre as estimativas de 2021 e 2024, 1.709 municípios mudam mais de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 5. Cada linha do arquivo vira parte de um painel. O painel por município é o grão mais fino; UF e Brasil são a soma dele. Isso garante que o Power BI, que sobe a partir do município, chegue exatamente aos mesmos números publicados.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 6. As duas bases vêm do mesmo cadastro, no mesmo mês, por caminhos diferentes. Comparar uma com a outra mostra onde elas discordam. A razão 1 seria concordância perfeita. Plug-in e híbrido convencional discordam em direções opostas e quase se cancelam somados. A razão de 4,51 não diz sozinha qual base erra: o próximo slide mostra que o erro está no rótulo do RENAVAM.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razão de 4,51 é uma comparação entre duas contagens, não um erro de quatro vezes. Três indícios mostram que quem subconta é o rótulo HIBRIDO PLUG-IN do RENAVAM: o Inmetro confirma os modelos que o nome classifica como plug-in; o que sobra no plug-in falta no híbrido convencional; e o rótulo só existe desde abril de 2022. É indício forte, não prova, porque nenhuma tabela pública cruza modelo e combustível. A comparação com as vendas da ABVE, mais adiante, reforça 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Começa a parte de saída: o que o pipeline entrega, o que se pode afirmar com isso e como reproduzir.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sai no fim. Todas as tabelas ficam na pasta resultados/, versionada no GitHub. As pequenas vão em CSV, que abre direto no Excel; as grandes em Parquet. Dois arquivos de texto explicam tudo: o LEIAME diz a cobertura e os ajustes, e o DICIONÁRIO descreve cada coluna.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já se pode citar, pela base por combustível, em setembro de 2026. São números de estoque registrado, não de vendas. O crescimento de 32 vezes é desde junho de 2020, o primeiro mês da série.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que motivou o tipo de veículo: quanto da frota eletrificada é carro e quanto é scooter. Pela base por modelo, a resposta é que quase tudo é leve, mas entre os elétricos a bateria a moto pesa um sexto. Em 2020 ela era dois terços, com a ressalva de que naquele mês o nome só reconhece 61% dos elétricos.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ABVE, Associação Brasileira do Veículo Elétrico, publica no ABVE Data as vendas de veículos leves eletrificados, mês a mês, desde 2012. É uma fonte independente desta base: conta emplacamentos de veículos novos, não a frota registrada, e não desconta veículos baixados. Mesmo assim, a base por modelo, só com os leves e sem os micro-híbridos, chega ao mesmo milhão. A base por combustível é maior porque inclui moto, ônibus e caminhão, e porque conta os micro-híbridos flex como 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mais forte sobre os plug-ins. A frota registrada não pode ter menos plug-ins do que se vendeu nos últimos anos, porque quase nenhum carro de dois anos já foi baixado. Só em 2024 e 2025 a ABVE contou 165 mil plug-ins vendidos, o dobro do que o rótulo do RENAVAM registra na frota inteira. De 2022 a setembro de 2026 foram 346 mil, perto dos 379 mil da base por modelo, que também inclui os plug-ins vendidos antes de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distribuição por UF é parecida nas três medidas, o que dá confiança na leitura territorial. A frota é estoque acumulado; as vendas de setembro mostram para onde ela cresce agora. O Distrito Federal se destaca nas três: tem 1,4% da população e quase 8% das vendas de eletrificados do mês, o que explica a liderança em eletrificados por habitante.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último elo: o painel do Power BI lê somente a pasta resultados/, nunca a SENATRAN direto. E qualquer pessoa reproduz tudo com quatro comandos. O teste no fim confere que os resultados publicados batem com as regras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cuidados que acompanham qualquer número desta base. Eles não são defeitos do tratamento: são características do dado de origem, e estão documentados no LEIAME e no roteiro.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as três partes em uma frase cada. A entrada é pública e guardada como instantâneo; o tratamento é testado e cada decisão está numa tabela revisável; a saída é documentada e é a única coisa que o painel lê.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dos números externos citados. Os números desta base vêm de resultados/, no repositório, com a série de set/2026.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BorgesMath/Eletromobilidade" TargetMode="External"/><Relationship Id="rId4" Type="http://schemas.openxmlformats.org/officeDocument/2006/relationships/hyperlink" Target="https://www.gov.br/transportes/pt-br/assuntos/transito/conteudo-Senatran/frota-de-veiculos-2026" TargetMode="External"/><Relationship Id="rId5" Type="http://schemas.openxmlformats.org/officeDocument/2006/relationships/hyperlink" Target="https://sidra.ibge.gov.br/tabela/6579" TargetMode="External"/><Relationship Id="rId6" Type="http://schemas.openxmlformats.org/officeDocument/2006/relationships/hyperlink" Target="https://www.gov.br/inmetro/pt-br/assuntos/avaliacao-da-conformidade/programa-brasileiro-de-etiquetagem/tabelas-de-eficiencia-energetica/veiculos-automotivos-pbe-veicular" TargetMode="External"/><Relationship Id="rId7" Type="http://schemas.openxmlformats.org/officeDocument/2006/relationships/hyperlink" Target="https://abve.org.br/eletrificados-leves-ultrapassam-a-marca-de-1-milhao-de-unidades-vendidas-no-brasil/" TargetMode="External"/><Relationship Id="rId8" Type="http://schemas.openxmlformats.org/officeDocument/2006/relationships/hyperlink" Target="https://abve.org.br/eletrificados-crescem-dez-vezes-mais-do-que-conjunto-do-mercado-em-2025-com-224-mil-veiculos-vendidos/" TargetMode="External"/><Relationship Id="rId9" Type="http://schemas.openxmlformats.org/officeDocument/2006/relationships/hyperlink" Target="https://abve.org.b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057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rial"/>
              </a:rPr>
              <a:t>REPOSITÓRIO GITHUB • BORGESMATH/ELETROMOBILIDADE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441448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Arial"/>
              </a:rPr>
              <a:t>Como a base de eletromobilidade é construída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88620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94A3B8"/>
                </a:solidFill>
                <a:latin typeface="Arial"/>
              </a:rPr>
              <a:t>Entrada, tratamento e saída dos dados: do cadastro de veículos da SENATRAN às tabelas que o painel lê.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64024"/>
            <a:ext cx="6858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VISÃO GERAL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Três etapas e uma regra de ouro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33223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Downloa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" y="1901952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9944" y="2450592"/>
            <a:ext cx="277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1 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944" y="283464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Arquivos públicos, mês a 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" y="3246120"/>
            <a:ext cx="277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Frota da SENATRAN (RENAVAM)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Municípios e população do IBGE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Tabela do Inmetro (PBE)</a:t>
            </a:r>
          </a:p>
          <a:p>
            <a:pPr algn="l"/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Tabelas de regras escritas à mão</a:t>
            </a:r>
          </a:p>
        </p:txBody>
      </p:sp>
      <p:pic>
        <p:nvPicPr>
          <p:cNvPr id="9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384" y="3246120"/>
            <a:ext cx="237744" cy="2377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35144" y="1600200"/>
            <a:ext cx="33223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Ícone Wrench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84" y="190195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5184" y="2450592"/>
            <a:ext cx="277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2  Tratamento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184" y="283464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Código Python, com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5184" y="3246120"/>
            <a:ext cx="277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Lê e corrige os arquivos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Classifica a tecnologia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Liga o município ao IBGE</a:t>
            </a:r>
          </a:p>
          <a:p>
            <a:pPr algn="l"/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Agrega e compara as bases</a:t>
            </a:r>
          </a:p>
        </p:txBody>
      </p:sp>
      <p:pic>
        <p:nvPicPr>
          <p:cNvPr id="15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624" y="3246120"/>
            <a:ext cx="237744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60384" y="1600200"/>
            <a:ext cx="33223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Ícone FolderOpe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424" y="190195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80424" y="2450592"/>
            <a:ext cx="277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3  Saída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0424" y="283464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Tabelas prontas para usar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0424" y="3246120"/>
            <a:ext cx="277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Painéis por município, UF e Brasil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Dimensões de município e modelo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Auditorias e qualidade</a:t>
            </a:r>
          </a:p>
          <a:p>
            <a:pPr algn="l"/>
            <a:r>
              <a:rPr sz="1350" b="1" i="0">
                <a:solidFill>
                  <a:srgbClr val="0284C7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painel do Power BI lê só isso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" y="516636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Ícone CircleInfo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" y="539496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87144" y="5166360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34155"/>
                </a:solidFill>
                <a:latin typeface="Arial"/>
              </a:rPr>
              <a:t>Regra de ouro: </a:t>
            </a:r>
            <a:r>
              <a:rPr sz="1400" b="0" i="0">
                <a:solidFill>
                  <a:srgbClr val="334155"/>
                </a:solidFill>
                <a:latin typeface="Arial"/>
              </a:rPr>
              <a:t>toda decisão sobre os dados mora no Python, onde um teste pega a mudança. O Power BI só apresenta e soma.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1828800"/>
            <a:ext cx="91440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217627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PARTE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8716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0F172A"/>
                </a:solidFill>
                <a:latin typeface="Arial"/>
              </a:rPr>
              <a:t>Entrada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101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Arial"/>
              </a:rPr>
              <a:t>Duas tabelas mensais da SENATRAN, três referências oficiais e cinco tabelas de regras escritas à mão.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Ícone Downloa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3659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1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pic>
        <p:nvPicPr>
          <p:cNvPr id="9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4773168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Ícone Wrench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73659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2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Tratamento</a:t>
            </a:r>
          </a:p>
        </p:txBody>
      </p:sp>
      <p:pic>
        <p:nvPicPr>
          <p:cNvPr id="13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4773168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881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Ícone FolderOpe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73659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3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Saída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ENTRADA (1/4) • FROTA DE VEÍCULOS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Duas tabelas da SENATRAN, o mesmo cadastro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530352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FileExcel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" y="1847088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864" y="1810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Frota por combustível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2864" y="21579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arquivo D_, .xlsx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" y="269748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Colunas: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UF, município, combustível e quantidade de veículos.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Tamanho: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de 50 a 60 mil linhas por mês.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Série: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jun/2020 a set/2026, 75 meses.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O que tem: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combustível, campo oficial do RENAVAM.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que falta: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marca, modelo e ano de fabricação.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9184" y="1554480"/>
            <a:ext cx="530352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Ícone FileZipper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24" y="1847088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2144" y="1810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Frota por marca e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2144" y="21579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arquivo I_, .zip mensal de 137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9224" y="269748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Colunas: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UF, município, marca e modelo, ano de fabricação e quantidade.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Tamanho: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de 18 a 23 milhões de linhas por mês.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Meses: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dez/2020 e set/2026.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O que tem: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modelo, a marca e o ano de cada veículo.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que falta: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combustível — a tecnologia sai do nome.</a:t>
            </a:r>
          </a:p>
        </p:txBody>
      </p:sp>
      <p:pic>
        <p:nvPicPr>
          <p:cNvPr id="14" name="Ícone CircleInfo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376672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9088" y="5394960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Uma base tem o combustível sem o modelo; a outra, o modelo sem o combustível. O projeto mede uma contra a outra.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ENTRADA (2/4) • COLETA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Como os arquivos chegam: listar, reconhecer, baixar, conferir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2455164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84224" y="1874519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4224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2514600"/>
            <a:ext cx="19522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Listar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926080"/>
            <a:ext cx="19979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Consulta a API de dados abertos e as páginas anuais do gov.br. A lista fica guardada para quando a API sai do ar.</a:t>
            </a:r>
          </a:p>
        </p:txBody>
      </p:sp>
      <p:pic>
        <p:nvPicPr>
          <p:cNvPr id="9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0" y="3108960"/>
            <a:ext cx="237744" cy="2377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49116" y="1600200"/>
            <a:ext cx="2455164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723436" y="1874519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23436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436" y="2514600"/>
            <a:ext cx="19522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Reconhecer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3436" y="2926080"/>
            <a:ext cx="19979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Descobre a tabela e o mês pelo nome do arquivo, que não é estável: "copy_of_…", "Maro" no lugar de "Março".</a:t>
            </a:r>
          </a:p>
        </p:txBody>
      </p:sp>
      <p:pic>
        <p:nvPicPr>
          <p:cNvPr id="15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32" y="3108960"/>
            <a:ext cx="237744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88328" y="1600200"/>
            <a:ext cx="2455164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62648" y="1874519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62648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648" y="2514600"/>
            <a:ext cx="19522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Baixar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648" y="2926080"/>
            <a:ext cx="19979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Repete com espera crescente quando o servidor responde erro, e retoma o download interrompido do ponto em que parou.</a:t>
            </a:r>
          </a:p>
        </p:txBody>
      </p:sp>
      <p:pic>
        <p:nvPicPr>
          <p:cNvPr id="21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644" y="3108960"/>
            <a:ext cx="237744" cy="23774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127540" y="1600200"/>
            <a:ext cx="2455164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401860" y="1874519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01860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1860" y="2514600"/>
            <a:ext cx="19522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Conferir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1860" y="2926080"/>
            <a:ext cx="19979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Confere tamanho e formato. Página HTML entregue como planilha é recusada, não vira dado.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904" y="516636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9944" y="516636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AFC"/>
                </a:solidFill>
                <a:latin typeface="Consolas"/>
              </a:rPr>
              <a:t>eletromobilidade baixar --tabela combustivel --anos 2025 2026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Grava em data/raw/combustivel/&lt;ano&gt;/, com o nome original do arquivo.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ENTRADA (3/4) • REFERÊNCIAS OFICIAIS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Três referências oficiais, guardadas no repositório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3444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MapLocationDo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" y="182880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2512" y="235915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Municípios do IBGE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12" y="283464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Fonte: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API de localidades do IBGE.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Traz: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5.571 municípios, com o código de 7 dígitos e o nome oficial.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Serve para: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ligar o nome escrito pela SENATRAN ao município certo.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12" y="5138928"/>
            <a:ext cx="289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284C7"/>
                </a:solidFill>
                <a:latin typeface="Consolas"/>
              </a:rPr>
              <a:t>dados/municipios.csv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184" y="1554480"/>
            <a:ext cx="3444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Ícone Users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792" y="182880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6792" y="235915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População do IBGE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6792" y="283464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Fonte: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estimativas anuais, tabela 6579 do SIDRA.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Traz: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população de cada município em 2020, 2021, 2024, 2025 e 2026.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Serve para: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taxa de eletrificados por mil habitantes.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792" y="5138928"/>
            <a:ext cx="289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284C7"/>
                </a:solidFill>
                <a:latin typeface="Consolas"/>
              </a:rPr>
              <a:t>dados/populacao.csv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464" y="1554480"/>
            <a:ext cx="3444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Ícone Certificate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072" y="182880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31072" y="235915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PBE Veicular do Inmetro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1072" y="283464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Fonte: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PDF do ciclo 2026, extraído pelo próprio pacote.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Traz: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972 versões de veículos leves, com propulsão e porte declarados.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Serve para: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conferir a classificação por nome e dar o tipo leve.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1072" y="5138928"/>
            <a:ext cx="289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284C7"/>
                </a:solidFill>
                <a:latin typeface="Consolas"/>
              </a:rPr>
              <a:t>dados/pbev.csv</a:t>
            </a:r>
          </a:p>
        </p:txBody>
      </p:sp>
      <p:pic>
        <p:nvPicPr>
          <p:cNvPr id="19" name="Ícone CircleInf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" y="585216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9088" y="5870448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Cada uma vira um instantâneo versionado: o processamento não depende da API no ar e se reproduz igual.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ENTRADA (4/4) • REGRAS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Cinco tabelas de regras, escritas à mão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554480"/>
          <a:ext cx="10972799" cy="349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3291840"/>
                <a:gridCol w="1234440"/>
                <a:gridCol w="397763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Arquivo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O que decide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Tamanho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Exemplo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onsolas"/>
                        </a:rPr>
                        <a:t>combustiveis.csv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rótulo de combustível → tecnologia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37 rótulos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ELETRICO/FONTE EXTERNA → elétrico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onsolas"/>
                        </a:rPr>
                        <a:t>modelos.csv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nome do modelo → tecnologia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58 regras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I/BYD SONG PRO GS DM → plug-in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onsolas"/>
                        </a:rPr>
                        <a:t>marcas.csv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grafias da mesma marca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33 pares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GM, CHEV, CHEVROLET → CHEVROLET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onsolas"/>
                        </a:rPr>
                        <a:t>municipios_grafias.csv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grafia da SENATRAN → código IBGE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41 grafias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PARATI → Paraty (3303807)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onsolas"/>
                        </a:rPr>
                        <a:t>tipos.csv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nome do modelo → tipo de veículo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27 regras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MOTOCHEFE/X11 3.000W → moto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Ícone CircleInfo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5422392"/>
            <a:ext cx="219456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9088" y="5440680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Cada linha leva a razão da decisão. Mudar uma regra é editar um texto revisável, não o código, e um teste recusa tabela com erro.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1828800"/>
            <a:ext cx="91440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217627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PARTE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8716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0F172A"/>
                </a:solidFill>
                <a:latin typeface="Arial"/>
              </a:rPr>
              <a:t>Tratamento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101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Arial"/>
              </a:rPr>
              <a:t>Seis etapas, na mesma ordem para todo mês, cada uma coberta por teste automatizado.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Ícone Downloa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3659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1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Entrada</a:t>
            </a:r>
          </a:p>
        </p:txBody>
      </p:sp>
      <p:pic>
        <p:nvPicPr>
          <p:cNvPr id="9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4773168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Ícone Wrench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73659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2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Tratamento</a:t>
            </a:r>
          </a:p>
        </p:txBody>
      </p:sp>
      <p:pic>
        <p:nvPicPr>
          <p:cNvPr id="13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4773168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881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Ícone FolderOpe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73659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3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Saída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VISÃO GERAL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Seis etapas, a mesma ordem em todo mês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84224" y="1892807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4224" y="18928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pic>
        <p:nvPicPr>
          <p:cNvPr id="7" name="Ícone Broom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776" y="19476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4224" y="251460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Ler e padronizar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289864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Acha o cabeçalho, tira acentos, une grafias de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4184" y="160020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48504" y="1892807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48504" y="18928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pic>
        <p:nvPicPr>
          <p:cNvPr id="13" name="Ícone Wrench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056" y="1947672"/>
            <a:ext cx="347472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504" y="251460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Corrigir defeitos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504" y="289864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Conserta ou exclui o mês que a fonte publicou com erro.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464" y="160020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12784" y="1892807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784" y="18928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pic>
        <p:nvPicPr>
          <p:cNvPr id="19" name="Ícone Tag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4336" y="1947672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784" y="251460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Classificar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784" y="289864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Dá a cada veículo uma tecnologia, uma marca e um tipo.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379476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84224" y="4087368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4224" y="4087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pic>
        <p:nvPicPr>
          <p:cNvPr id="25" name="Ícone MapLocationDot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776" y="4142232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4224" y="470916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Identificar o município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" y="509320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Liga o nome ao código do IBGE e à população.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4184" y="379476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648504" y="4087368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648504" y="4087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pic>
        <p:nvPicPr>
          <p:cNvPr id="31" name="Ícone LayerGroup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0056" y="4142232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504" y="470916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Agregar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504" y="509320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Soma por município, UF e Brasil, mês a mês.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464" y="3794760"/>
            <a:ext cx="344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412784" y="4087368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12784" y="4087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pic>
        <p:nvPicPr>
          <p:cNvPr id="37" name="Ícone ScaleBalanced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4336" y="4142232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784" y="470916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Conciliar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784" y="5093208"/>
            <a:ext cx="289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Compara as duas bases e mostra onde cada uma 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ETAPAS 1 E 2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Ler, padronizar e corrigir os arquivos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3931920" cy="4297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Broom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" y="1810512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7144" y="18105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Padronizar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2423160"/>
            <a:ext cx="34290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Texto: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caixa alta, sem acento: "São Paulo" vira SAO PAULO.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Cabeçalho: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achado onde estiver, e a linha de total é descartada.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Volume: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arquivo de 22 milhões de linhas é lido em blocos de 1 milhão.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Cache: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um mês já lido não é relido; só o novo é processado.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16144" y="1554480"/>
          <a:ext cx="676656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/>
                <a:gridCol w="3520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Defeito encontrado na fonte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 que o código faz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nov/2021: contagens multiplicadas por 10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Divide por 10: a frota volta a 113,5 milhões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jan/2022: arquivo idêntico ao de dez/2021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Exclui o mês da série, em vez de repetir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ago/2019: acentos corrompidos ("MunicÃ­pio")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Repara o texto na leitura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Mês que não foi publicado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Registra a falta; não inventa o dado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Plug-in só ganha código em abr/2022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Anota que o zero anterior é falta de código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Ícone CircleInfo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603504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9088" y="6053328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Todo ajuste fica registrado em resultados/qualidade_combustivel.csv, mês a mês.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3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Classificar a tecnologia: duas bases, dois caminhos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Tabl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" y="1810512"/>
            <a:ext cx="329184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9712" y="1792224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Base por combustível: por tabela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12" y="2267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O rótulo oficial do RENAVAM vira uma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" y="2724912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8816" y="272491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ELETRICO/FONTE 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7072" y="272491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→  </a:t>
            </a:r>
            <a:r>
              <a:rPr sz="1250" b="1" i="0">
                <a:solidFill>
                  <a:srgbClr val="0284C7"/>
                </a:solidFill>
                <a:latin typeface="Arial"/>
              </a:rPr>
              <a:t>elétrico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" y="3273552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48816" y="327355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HIBRIDO PLUG-IN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072" y="32735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→  </a:t>
            </a:r>
            <a:r>
              <a:rPr sz="1250" b="1" i="0">
                <a:solidFill>
                  <a:srgbClr val="0284C7"/>
                </a:solidFill>
                <a:latin typeface="Arial"/>
              </a:rPr>
              <a:t>plug-in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" y="3822191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8816" y="3822191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GASOLINA/ELETRICO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7072" y="3822191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→  </a:t>
            </a:r>
            <a:r>
              <a:rPr sz="1250" b="1" i="0">
                <a:solidFill>
                  <a:srgbClr val="0284C7"/>
                </a:solidFill>
                <a:latin typeface="Arial"/>
              </a:rPr>
              <a:t>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" y="4370831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48816" y="4370831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ALCOOL/GASOLINA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7072" y="4370831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→  </a:t>
            </a:r>
            <a:r>
              <a:rPr sz="1250" b="1" i="0">
                <a:solidFill>
                  <a:srgbClr val="475569"/>
                </a:solidFill>
                <a:latin typeface="Arial"/>
              </a:rPr>
              <a:t>combustão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9184" y="155448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Ícone Cod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792" y="1810512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28992" y="1792224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Base por modelo: por regras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1792" y="2267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O nome do modelo passa por 58 regras em ordem.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1792" y="2724912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18096" y="272491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I/BYD DOLPHIN GS 180EV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6352" y="272491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→  </a:t>
            </a:r>
            <a:r>
              <a:rPr sz="1250" b="1" i="0">
                <a:solidFill>
                  <a:srgbClr val="0284C7"/>
                </a:solidFill>
                <a:latin typeface="Arial"/>
              </a:rPr>
              <a:t>elétrico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1792" y="3273552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18096" y="327355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I/GWM HAVAL H6 PHEV19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6352" y="32735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284C7"/>
                </a:solidFill>
                <a:latin typeface="Arial"/>
              </a:rPr>
              <a:t>→  </a:t>
            </a:r>
            <a:r>
              <a:rPr sz="1250" b="1" i="0">
                <a:solidFill>
                  <a:srgbClr val="0284C7"/>
                </a:solidFill>
                <a:latin typeface="Arial"/>
              </a:rPr>
              <a:t>plug-in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71792" y="3822191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18096" y="3822191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FIAT/PULSE AUDACE HYB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6352" y="3822191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→  </a:t>
            </a:r>
            <a:r>
              <a:rPr sz="1250" b="1" i="0">
                <a:solidFill>
                  <a:srgbClr val="475569"/>
                </a:solidFill>
                <a:latin typeface="Arial"/>
              </a:rPr>
              <a:t>híbrido leve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71792" y="4370831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18096" y="4370831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VW/8.150E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6352" y="4370831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Arial"/>
              </a:rPr>
              <a:t>→  </a:t>
            </a:r>
            <a:r>
              <a:rPr sz="1250" b="1" i="0">
                <a:solidFill>
                  <a:srgbClr val="F59E0B"/>
                </a:solidFill>
                <a:latin typeface="Arial"/>
              </a:rPr>
              <a:t>combustão: E é eletrônico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71792" y="4919472"/>
            <a:ext cx="4718304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18096" y="491947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onsolas"/>
              </a:rPr>
              <a:t>I/BMW 320I EV11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6352" y="491947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Arial"/>
              </a:rPr>
              <a:t>→  </a:t>
            </a:r>
            <a:r>
              <a:rPr sz="1250" b="1" i="0">
                <a:solidFill>
                  <a:srgbClr val="F59E0B"/>
                </a:solidFill>
                <a:latin typeface="Arial"/>
              </a:rPr>
              <a:t>combustão: EV11 é motor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Arial"/>
              </a:rPr>
              <a:t>Frota eletrificada =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elétrico + plug-in + híbrido + célula de combustível. </a:t>
            </a:r>
            <a:r>
              <a:rPr sz="1350" b="1" i="0">
                <a:solidFill>
                  <a:srgbClr val="F59E0B"/>
                </a:solidFill>
                <a:latin typeface="Arial"/>
              </a:rPr>
              <a:t>Híbrido leve e combustão ficam fora.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3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Marca, tipo de veículo e a conferência do Inmetro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91640"/>
            <a:ext cx="344424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Tag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" y="196596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2512" y="249631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12" y="297180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Posição: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tira o prefixo de importado (I/) e de montadora (JTA/).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Grafias: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GM, CHEV e CHEVROLET viram CHEVROLET.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Resultado: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Chevrolet deixa de aparecer partida em três linhas.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184" y="1691640"/>
            <a:ext cx="344424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Ícone Car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792" y="196596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6792" y="249631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Tipo de veículo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6792" y="297180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Leve: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quem está no PBE do Inmetro — 78,7% da frota eletrificada.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Moto: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potência em W ou kW no nome, como 3.000W.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Ônibus e caminhão: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carroceria ou o chassi aparece no nome do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464" y="1691640"/>
            <a:ext cx="344424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Ícone ShieldHalved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072" y="196596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31072" y="2496312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Conferência do Inmetro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1072" y="2971800"/>
            <a:ext cx="2877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Como: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compara a regra com a propulsão que o fabricante declarou.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Achou: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BMW 320i EV11, a combustão, contado como elétrico.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Achou: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BYD eT3, uma van, que uma regra levava para caminhão.</a:t>
            </a:r>
          </a:p>
        </p:txBody>
      </p:sp>
      <p:pic>
        <p:nvPicPr>
          <p:cNvPr id="16" name="Ícone CircleInf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" y="5559552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088" y="5577840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Modelo sem regra nem PBE fica sem tipo e entra numa fila de revisão: hoje são 3 veículos.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4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Identificar o município pelo código do IBGE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2103120"/>
            <a:ext cx="457200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5664" y="2423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CHAVE DO MUNICÍPIO (7 DÍGITOS)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664" y="27889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solas"/>
              </a:rPr>
              <a:t>cod_municipio_ibge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664" y="3611880"/>
            <a:ext cx="3931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onsolas"/>
              </a:rPr>
              <a:t>EMBU</a:t>
            </a:r>
            <a:r>
              <a:rPr sz="1350" b="0" i="0">
                <a:solidFill>
                  <a:srgbClr val="94A3B8"/>
                </a:solidFill>
                <a:latin typeface="Arial"/>
              </a:rPr>
              <a:t>  até mar/2022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onsolas"/>
              </a:rPr>
              <a:t>EMBU DAS ARTES</a:t>
            </a:r>
            <a:r>
              <a:rPr sz="1350" b="0" i="0">
                <a:solidFill>
                  <a:srgbClr val="94A3B8"/>
                </a:solidFill>
                <a:latin typeface="Arial"/>
              </a:rPr>
              <a:t>  a partir de abr/2022</a:t>
            </a:r>
          </a:p>
          <a:p>
            <a:pPr algn="l"/>
            <a:r>
              <a:rPr sz="1350" b="1" i="0">
                <a:solidFill>
                  <a:srgbClr val="38BDF8"/>
                </a:solidFill>
                <a:latin typeface="Arial"/>
              </a:rPr>
              <a:t>→ os dois são 3515004: uma série só, 75 meses</a:t>
            </a:r>
          </a:p>
        </p:txBody>
      </p:sp>
      <p:pic>
        <p:nvPicPr>
          <p:cNvPr id="8" name="Ícone MagnifyingGlass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084831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05740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Pelo nome: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UF e nome sem acento e sem pontuação resolvem 5.537 das 5.581 grafias.</a:t>
            </a:r>
          </a:p>
        </p:txBody>
      </p:sp>
      <p:pic>
        <p:nvPicPr>
          <p:cNvPr id="10" name="Ícone PenToSquar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99923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297180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Pela tabela: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41 grafias conferidas à mão, como PARATI (Paraty) e BOA SAUDE, hoje Januário Cicco.</a:t>
            </a:r>
          </a:p>
        </p:txBody>
      </p:sp>
      <p:pic>
        <p:nvPicPr>
          <p:cNvPr id="12" name="Ícone CircleCheck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913632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388620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Sem código: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só os 3 pseudo-municípios sem UF, como SEM INFORMACAO. Qualquer outro derruba o teste.</a:t>
            </a:r>
          </a:p>
        </p:txBody>
      </p:sp>
      <p:pic>
        <p:nvPicPr>
          <p:cNvPr id="14" name="Ícone Users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4828032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480060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Depois: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população do IBGE entra pelo mesmo código, sem casar nome nenhum.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4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A população certa para cada mês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Arial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75569"/>
                </a:solidFill>
                <a:latin typeface="Arial"/>
              </a:rPr>
              <a:t>do próprio 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0960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00960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960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Arial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960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75569"/>
                </a:solidFill>
                <a:latin typeface="Arial"/>
              </a:rPr>
              <a:t>do próprio 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2016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92016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2016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Arial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2016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  <a:latin typeface="Arial"/>
              </a:rPr>
              <a:t>emprestada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3072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83072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3072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Arial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3072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  <a:latin typeface="Arial"/>
              </a:rPr>
              <a:t>emprestada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4128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74128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4128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Arial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4128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75569"/>
                </a:solidFill>
                <a:latin typeface="Arial"/>
              </a:rPr>
              <a:t>do próprio 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65184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65184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5184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Arial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5184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75569"/>
                </a:solidFill>
                <a:latin typeface="Arial"/>
              </a:rPr>
              <a:t>do próprio ano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56240" y="1965960"/>
            <a:ext cx="1426464" cy="15544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56240" y="2103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meses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56240" y="2450592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Arial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56240" y="30175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75569"/>
                </a:solidFill>
                <a:latin typeface="Arial"/>
              </a:rPr>
              <a:t>do próprio 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" y="14813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75569"/>
                </a:solidFill>
                <a:latin typeface="Arial"/>
              </a:rPr>
              <a:t>Estimativa de população usada: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" y="37033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9904" y="37033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475569"/>
                </a:solidFill>
                <a:latin typeface="Arial"/>
              </a:rPr>
              <a:t>base: Censo 2010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2016" y="3703320"/>
            <a:ext cx="7790688" cy="38404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792016" y="3703320"/>
            <a:ext cx="7790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base: Censo 2022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" y="4389120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Ícone CalendarXmark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" y="4617720"/>
            <a:ext cx="310896" cy="3108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41424" y="45720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2022 e 2023 não têm estimativa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1424" y="4956048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Usam a de 2024, que já parte do Censo que mediu aqueles anos. Repetir a de 2021 estenderia uma projeção que o Censo corrigiu.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9184" y="4389120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Ícone TriangleExclamati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504" y="4617720"/>
            <a:ext cx="310896" cy="3108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10704" y="45720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A troca de base não é crescimento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0704" y="4956048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Entre as estimativas de 2021 e 2024, 1.709 municípios mudam mais de 10%. Compare a taxa por habitante dentro de cada 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5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Agregar: da linha do arquivo ao painel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2455164" cy="2514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5936" y="182880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Linha do arquivo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936" y="2286000"/>
            <a:ext cx="19979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mês × município × rótulo de combustível × quantidade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936" y="3520440"/>
            <a:ext cx="19979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rial"/>
              </a:rPr>
              <a:t>3,7 milhões de linhas</a:t>
            </a:r>
          </a:p>
        </p:txBody>
      </p:sp>
      <p:pic>
        <p:nvPicPr>
          <p:cNvPr id="8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0" y="2743200"/>
            <a:ext cx="237744" cy="2377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49116" y="1600200"/>
            <a:ext cx="245516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05148" y="182880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Painel do município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148" y="2286000"/>
            <a:ext cx="19979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frota por classe, total, eletrificada, participação e por mil habitantes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148" y="3520440"/>
            <a:ext cx="19979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Arial"/>
              </a:rPr>
              <a:t>418 mil linhas em 75 meses</a:t>
            </a:r>
          </a:p>
        </p:txBody>
      </p:sp>
      <p:pic>
        <p:nvPicPr>
          <p:cNvPr id="13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32" y="2743200"/>
            <a:ext cx="237744" cy="2377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88328" y="1600200"/>
            <a:ext cx="245516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4360" y="182880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Painel da 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4360" y="2286000"/>
            <a:ext cx="19979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a soma dos municípios de cada UF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4360" y="3520440"/>
            <a:ext cx="19979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Arial"/>
              </a:rPr>
              <a:t>27 UFs × 75 meses</a:t>
            </a:r>
          </a:p>
        </p:txBody>
      </p:sp>
      <p:pic>
        <p:nvPicPr>
          <p:cNvPr id="18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644" y="2743200"/>
            <a:ext cx="237744" cy="2377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27540" y="1600200"/>
            <a:ext cx="245516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83572" y="182880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Painel do 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3572" y="2286000"/>
            <a:ext cx="19979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a soma de tudo, inclusive a frota sem UF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3572" y="3520440"/>
            <a:ext cx="19979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Arial"/>
              </a:rPr>
              <a:t>75 meses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904" y="4434840"/>
          <a:ext cx="10972800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5603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Exemplo, set/2026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Frota total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Frota eletrificada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Participação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São Paulo (UF)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36.174.177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371.659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1,03%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136.424.856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1.330.703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Arial"/>
                        </a:rPr>
                        <a:t>0,98%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6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Conciliar: as duas bases contam a mesma frota?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4813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Razão base por modelo ÷ base por combustível, Brasil, set/2026 (1,00 = acerto)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904" y="1783080"/>
          <a:ext cx="6675120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Ícone Circle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4708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828800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Frota total: 1,00.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Os dois arquivos cobrem o mesmo universo de veículos.</a:t>
            </a:r>
          </a:p>
        </p:txBody>
      </p:sp>
      <p:pic>
        <p:nvPicPr>
          <p:cNvPr id="8" name="Ícone Circle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89864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2880360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Elétrico: 0,91.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nome reconhece 9 em cada 10 elétricos.</a:t>
            </a:r>
          </a:p>
        </p:txBody>
      </p:sp>
      <p:pic>
        <p:nvPicPr>
          <p:cNvPr id="10" name="Ícone TriangleExclamati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950207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3931920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Plug-in 4,51 e híbrido 0,36.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Erram em direções opostas, e somados ficam em 0,77.</a:t>
            </a:r>
          </a:p>
        </p:txBody>
      </p:sp>
      <p:pic>
        <p:nvPicPr>
          <p:cNvPr id="12" name="Ícone CircleInf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001767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983479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Razão não é erro: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4,51 diz que as bases discordam, não qual delas acerta.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TRATAMENTO • ETAPA 6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Plug-in 4,51: quem subconta é o rótulo do RENAVAM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4023360" cy="4160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810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4,51 É UMA RAZÃO, NÃO UM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944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378.755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944" y="2834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plug-ins pelo nome do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" y="3337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Arial"/>
              </a:rPr>
              <a:t>83.987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944" y="3977639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com o rótulo HIBRIDO PLUG-IN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44" y="46177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Arial"/>
              </a:rPr>
              <a:t>378.755 ÷ 83.987 = 4,51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Arial"/>
              </a:rPr>
              <a:t>Brasil, set/2026</a:t>
            </a:r>
          </a:p>
        </p:txBody>
      </p:sp>
      <p:pic>
        <p:nvPicPr>
          <p:cNvPr id="11" name="Ícone Certificat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3677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1600200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Inmetro confirma o nome.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95,7% desses plug-ins são de modelos com versão plug-in no PBE, e 71,5% só existem como plug-in: BYD Song Plus DM (62 mil), Song Pro DM, King DM.</a:t>
            </a:r>
          </a:p>
        </p:txBody>
      </p:sp>
      <p:pic>
        <p:nvPicPr>
          <p:cNvPr id="13" name="Ícone ScaleBalanced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825496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2788920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que sobra no plug-in falta no híbrido.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híbrido convencional tem 491 mil a menos pelo nome. Plug-in registrado como GASOLINA/ELETRICO ou HIBRIDO explica as duas razões.</a:t>
            </a:r>
          </a:p>
        </p:txBody>
      </p:sp>
      <p:pic>
        <p:nvPicPr>
          <p:cNvPr id="15" name="Ícone CalendarXmark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014215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3977639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rótulo é recente.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HIBRIDO PLUG-IN só existe desde abr/2022 e capta entre um quinto e um terço dos plug-ins da frota.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5166360"/>
            <a:ext cx="6601968" cy="5486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12080" y="5166360"/>
            <a:ext cx="6263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Para separar plug-in de híbrido,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base por modelo é a melhor estimativa.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Indício forte, não prova: nenhuma tabela pública cruza modelo e combustível veículo a veículo.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1828800"/>
            <a:ext cx="91440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217627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PARTE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8716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0F172A"/>
                </a:solidFill>
                <a:latin typeface="Arial"/>
              </a:rPr>
              <a:t>Saída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101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Arial"/>
              </a:rPr>
              <a:t>Tabelas versionadas em resultados/, documentadas, e o painel que lê só elas.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Ícone Downloa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3659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1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Entrada</a:t>
            </a:r>
          </a:p>
        </p:txBody>
      </p:sp>
      <p:pic>
        <p:nvPicPr>
          <p:cNvPr id="9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4773168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Ícone Wrench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73659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475569"/>
                </a:solidFill>
                <a:latin typeface="Arial"/>
              </a:rPr>
              <a:t>2  </a:t>
            </a:r>
            <a:r>
              <a:rPr sz="1500" b="1" i="0">
                <a:solidFill>
                  <a:srgbClr val="475569"/>
                </a:solidFill>
                <a:latin typeface="Arial"/>
              </a:rPr>
              <a:t>Tratamento</a:t>
            </a:r>
          </a:p>
        </p:txBody>
      </p:sp>
      <p:pic>
        <p:nvPicPr>
          <p:cNvPr id="13" name="Ícone ArrowRight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4773168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88152" y="4572000"/>
            <a:ext cx="2240280" cy="6400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Ícone FolderOpe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73659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45720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3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Saída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SAÍDA (1/4) • ARQUIVOS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 que é publicado em resultados/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554480"/>
          <a:ext cx="1097280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2057400"/>
                <a:gridCol w="416052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Tabela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Grão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 que traz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Formato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combustivel_brasil, _uf, _municipio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mês × recorte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frota por classe, participação e por mil habitantes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CSV, Parquet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modelo_eletrificados, modelo_*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mês × modelo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eletrificados por modelo, marca, ano e município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Parquet, 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modelo_tipo_brasil, _uf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mês × tipo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parte de leve, moto, ônibus e caminhão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CSV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conciliacao_brasil, _uf, _municipio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mês × recorte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as duas bases lado a lado, diferença e razão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CSV, Parquet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municipios_dimensao, modelos_dimensao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município, modelo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código IBGE e nome oficial; marca e tipo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Parquet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onsolas"/>
                        </a:rPr>
                        <a:t>qualidade_*, LEIAME, DICIONARIO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arquivo mensal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ajustes, cobertura e o significado de cada coluna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CSV, texto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Ícone CircleInfo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5742432"/>
            <a:ext cx="219456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9088" y="5760720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CSV com ponto e vírgula e vírgula decimal, que abre direto no Excel. Parquet para as tabelas grandes, que o Power BI lê direto.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SAÍDA (2/4) •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 que a base sustenta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828800"/>
            <a:ext cx="2537460" cy="2148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21488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1.330.703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3017520"/>
            <a:ext cx="20802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Arial"/>
              </a:rPr>
              <a:t>veículos eletrificados registrados em set/2026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1684" y="1828800"/>
            <a:ext cx="2537460" cy="2148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1684" y="21488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0,98%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0284" y="3017520"/>
            <a:ext cx="20802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Arial"/>
              </a:rPr>
              <a:t>da frota total de 136,4 milhões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464" y="1828800"/>
            <a:ext cx="2537460" cy="2148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464" y="21488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6,21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064" y="3017520"/>
            <a:ext cx="20802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Arial"/>
              </a:rPr>
              <a:t>eletrificados por mil habitantes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5244" y="1828800"/>
            <a:ext cx="2537460" cy="2148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45244" y="21488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32×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844" y="3017520"/>
            <a:ext cx="20802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Arial"/>
              </a:rPr>
              <a:t>a frota eletrificada de jun/2020</a:t>
            </a:r>
          </a:p>
        </p:txBody>
      </p:sp>
      <p:pic>
        <p:nvPicPr>
          <p:cNvPr id="16" name="Ícone LocationDo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407408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7104" y="437083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4155"/>
                </a:solidFill>
                <a:latin typeface="Arial"/>
              </a:rPr>
              <a:t>São Paulo concentra: </a:t>
            </a:r>
            <a:r>
              <a:rPr sz="1400" b="0" i="0">
                <a:solidFill>
                  <a:srgbClr val="334155"/>
                </a:solidFill>
                <a:latin typeface="Arial"/>
              </a:rPr>
              <a:t>371.659 eletrificados, 28% do total nacional.</a:t>
            </a:r>
          </a:p>
        </p:txBody>
      </p:sp>
      <p:pic>
        <p:nvPicPr>
          <p:cNvPr id="18" name="Ícone Users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184" y="4407408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36384" y="437083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4155"/>
                </a:solidFill>
                <a:latin typeface="Arial"/>
              </a:rPr>
              <a:t>O Distrito Federal lidera em intensidade: </a:t>
            </a:r>
            <a:r>
              <a:rPr sz="1400" b="0" i="0">
                <a:solidFill>
                  <a:srgbClr val="334155"/>
                </a:solidFill>
                <a:latin typeface="Arial"/>
              </a:rPr>
              <a:t>28,9 por mil habitantes, contra 8,0 de São Paulo.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Fonte: base por combustível (campo oficial do RENAVAM). População: estimativa de 2026 do IBGE.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SAÍDA (3/4) • TIPO DE VEÍCULO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Quanto da frota eletrificada é carro e quanto é moto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65836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7830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Parte de cada tipo na frota eletrificada, base por modelo, set/2026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38504" y="2103120"/>
          <a:ext cx="61722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554480"/>
            <a:ext cx="4087368" cy="4434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18120" y="1828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Entre os elétricos a bateria, a moto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38BDF8"/>
                </a:solidFill>
                <a:latin typeface="Arial"/>
              </a:rPr>
              <a:t>16,9%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291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em set/2026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8404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Arial"/>
              </a:rPr>
              <a:t>66,8%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em dez/2020*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93776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* em dez/2020 a base por modelo só reconhece pelo nome 61% dos elétricos; o resto pode ter outra composição.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Leia como composição: a base por modelo acha 18% menos eletrificados que a base por combustível.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COM A ABVE (1/3) • TOTAL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Vendas e cadastro chegam ao mesmo milhão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284C7"/>
                </a:solidFill>
                <a:latin typeface="Arial"/>
              </a:rPr>
              <a:t>1.003.310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22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vendas acumuladas de eletrificados leves, de 2012 a set/2026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ABVE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18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7418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284C7"/>
                </a:solidFill>
                <a:latin typeface="Arial"/>
              </a:rPr>
              <a:t>1.014.333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50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frota registrada de eletrificados leves em set/2026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50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base por modelo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46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46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75569"/>
                </a:solidFill>
                <a:latin typeface="Arial"/>
              </a:rPr>
              <a:t>1.330.703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78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frota eletrificada registrada, todos os tipos, em set/2026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78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base por combustível</a:t>
            </a:r>
          </a:p>
        </p:txBody>
      </p:sp>
      <p:pic>
        <p:nvPicPr>
          <p:cNvPr id="16" name="Ícone ScaleBalance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087368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7104" y="40690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Fontes independentes, mesma ordem de grandeza: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ABVE conta vendas de leves novos (com micro-híbridos até 2024); a base por modelo, o cadastro.</a:t>
            </a:r>
          </a:p>
        </p:txBody>
      </p:sp>
      <p:pic>
        <p:nvPicPr>
          <p:cNvPr id="18" name="Ícone Motorcycl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745736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7104" y="4727448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 base por combustível é um terço maior: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inclui moto, ônibus e caminhão (79 mil pela base por modelo), que a ABVE não conta.</a:t>
            </a:r>
          </a:p>
        </p:txBody>
      </p:sp>
      <p:pic>
        <p:nvPicPr>
          <p:cNvPr id="20" name="Ícone CircleInfo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404104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7104" y="5385816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E conta micro-híbrido como híbrido: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flex de 12 V aparece como GASOLINA/ALCOOL/ELETRICO. A base por modelo acha 117 mil; a ABVE os exclui.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COM A ABVE (2/3) • PLUG-IN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As vendas da ABVE confirmam a base por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69494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7556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Híbridos plug-in (PHEV),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2057400"/>
          <a:ext cx="662940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554480"/>
            <a:ext cx="3721608" cy="4206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60" y="1810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A FROTA NÃO ENCOLHE ASSIM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Só os plug-ins vendidos em 2024 e 2025 já são o dobro do que o rótulo do RENAVAM registra na frota inteira.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657600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De 2022 a set/2026 foram 346 mil vendidos, perto dos 379 mil da base por modelo, que também inclui os plug-ins vendidos antes de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Vendas: ABVE Data, painel de emplacamentos por tecnologia (consultado em 22/10/2026) e balanço anual de 2025.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COM A ABVE (3/3) • UF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Onde a frota está e onde se vende agora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554480"/>
          <a:ext cx="1097280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26080"/>
                <a:gridCol w="292608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UF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eletrificada (combustível)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de leves (modelo)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Vendas de set/2026 (ABVE)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São Paulo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Minas Gerais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Distrito Federal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Rio de Janeiro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Paraná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Ícone LocationDo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919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7104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As três medidas põem as mesmas UFs na frente.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Distrito Federal, com 1,4% da população, faz quase 8% das vendas do mês: é por isso que lidera em eletrificados por habitante.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Parte de cada UF no total do Brasil. Frota: set/2026, nesta base. Vendas: comunicado da ABVE de 8/10/2026.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SAÍDA (4/4) • PAINEL E REPRODUÇÃO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Do resultado ao painel, e como reproduzir tudo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4480560" cy="4434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ChartColum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" y="1810512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7144" y="18105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Painel do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12" y="242316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Fonte: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só a pasta resultados/, nunca a SENATRAN direto.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Modelo: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estrela, com 6 fatos e 4 dimensões, ligado pelo código IBGE.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Páginas: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panorama, território, modelos e marcas, conciliação e cobertura.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Confere: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uma tabela de valores esperados antes de qualquer visual.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Atualiza: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um clique em Atualizar depois de cada publicar.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554480"/>
            <a:ext cx="6190488" cy="95097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23560" y="180136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23560" y="1801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64207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eletromobilidade baixar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Arial"/>
              </a:rPr>
              <a:t>busca os arquivos da SENATRAN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688336"/>
            <a:ext cx="6190488" cy="95097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623560" y="293522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23560" y="29352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9806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eletromobilidade processar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Arial"/>
              </a:rPr>
              <a:t>lê, trata e agrega (6 a 11 minutos)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822191"/>
            <a:ext cx="6190488" cy="95097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623560" y="4069079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23560" y="40690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eletromobilidade publicar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251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Arial"/>
              </a:rPr>
              <a:t>grava resultados/, LEIAME e DICIONÁRIO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4956048"/>
            <a:ext cx="6190488" cy="95097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23560" y="5202936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23560" y="5202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657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pytest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58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Arial"/>
              </a:rPr>
              <a:t>283 testes, inclusive sobre resultados/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LEITURA CORRETA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Cinco cuidados ao ler os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3444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CalendarDays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" y="1874519"/>
            <a:ext cx="329184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4224" y="2377440"/>
            <a:ext cx="289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Frota é estoque, não venda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2788920"/>
            <a:ext cx="289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A variação de um mês é saldo de entradas e baixas. Não é emplacamento.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184" y="1600200"/>
            <a:ext cx="3444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Ícone Plug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504" y="1874519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504" y="2377440"/>
            <a:ext cx="289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Plug-in × híbrido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504" y="2788920"/>
            <a:ext cx="289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O rótulo plug-in do RENAVAM subconta: separe pela base por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464" y="1600200"/>
            <a:ext cx="3444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Ícone CalendarXmark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784" y="1874519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784" y="2377440"/>
            <a:ext cx="289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Classes tardias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784" y="2788920"/>
            <a:ext cx="289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Plug-in só tem código desde abr/2022. O zero anterior é falta de código.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2044" y="3840480"/>
            <a:ext cx="3444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Ícone CircleInf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364" y="4114800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6364" y="4617720"/>
            <a:ext cx="289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3,6% sem combustível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6364" y="5029200"/>
            <a:ext cx="289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Parte da frota não tem combustível informado: é o piso de incerteza.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6324" y="3840480"/>
            <a:ext cx="3444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Ícone Users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644" y="4114800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30644" y="4617720"/>
            <a:ext cx="289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População muda de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0644" y="5029200"/>
            <a:ext cx="289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Em 2022 a estimativa passa do Censo 2010 para o Censo 2022.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Arial"/>
              </a:rPr>
              <a:t>BORGESMATH/ELETROMOBILIDADE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Arial"/>
              </a:rPr>
              <a:t>Entrada pública, tratamento testado, saída documentada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313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Arial"/>
              </a:rPr>
              <a:t>Toda regra mora num arquivo que se revisa, todo ajuste fica registrado, e o painel só lê o que o Python publicou.</a:t>
            </a:r>
          </a:p>
        </p:txBody>
      </p:sp>
      <p:pic>
        <p:nvPicPr>
          <p:cNvPr id="5" name="Ícone Downloa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4892040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27248" y="534924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Arial"/>
              </a:rPr>
              <a:t>Entrada</a:t>
            </a:r>
          </a:p>
        </p:txBody>
      </p:sp>
      <p:pic>
        <p:nvPicPr>
          <p:cNvPr id="7" name="Ícone Wrench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489204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76088" y="534924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Arial"/>
              </a:rPr>
              <a:t>Tratamento</a:t>
            </a:r>
          </a:p>
        </p:txBody>
      </p:sp>
      <p:pic>
        <p:nvPicPr>
          <p:cNvPr id="9" name="Ícone FolderOpe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489204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4928" y="534924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Arial"/>
              </a:rPr>
              <a:t>Saída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FONTES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De onde vêm os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0876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38504" y="15636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Esta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584" y="1554480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Repositório BorgesMath/Eletromobilidade, pasta resultados/ (série até set/2026)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3"/>
              </a:rPr>
              <a:t>github.com/BorgesMath/Eletromobilidade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167128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8504" y="222199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SENATRAN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1584" y="2212848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Frota de veículos por UF, município, combustível e modelo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4"/>
              </a:rPr>
              <a:t>gov.br/transportes/pt-br/assuntos/transito/conteudo-Senatran/frota-de-veiculos-2026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2825496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504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IBGE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584" y="2871215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API de localidades (municípios) e SIDRA, tabela 6579 (estimativas de população)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5"/>
              </a:rPr>
              <a:t>sidra.ibge.gov.br/tabela/6579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483864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504" y="35387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Inmetro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1584" y="3529584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Programa Brasileiro de Etiquetagem Veicular (PBE), ciclo 2026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6"/>
              </a:rPr>
              <a:t>gov.br/inmetro/pt-br/assuntos/avaliacao-da…getica/veiculos-automotivos-pbe-veicular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" y="4142231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8504" y="4197095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584" y="4187951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Eletrificados leves ultrapassam a marca de 1 milhão de unidades vendidas no Brasil (8/10/2026)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7"/>
              </a:rPr>
              <a:t>abve.org.br/eletrificados-leves-ultrapassam-a-marca-de-1-milhao-de-unidades-vendidas-no-brasil/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480060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504" y="48554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1584" y="4846320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Balanço de 2025: vendas por tecnologia em 2024 e 2025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8"/>
              </a:rPr>
              <a:t>abve.org.br/eletrificados-crescem-dez-veze…o-em-2025-com-224-mil-veiculos-vendidos/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5458968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8504" y="55138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1584" y="5504688"/>
            <a:ext cx="8732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Painel de emplacamentos de eletrificados leves por tecnologia, 2020 a set/2026 (consultado em 22/10/2026)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9"/>
              </a:rPr>
              <a:t>abve.org.br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